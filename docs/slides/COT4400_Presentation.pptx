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5" r:id="rId4"/>
    <p:sldId id="278" r:id="rId5"/>
    <p:sldId id="259" r:id="rId6"/>
    <p:sldId id="273" r:id="rId7"/>
    <p:sldId id="270" r:id="rId8"/>
    <p:sldId id="269" r:id="rId9"/>
    <p:sldId id="274" r:id="rId10"/>
    <p:sldId id="262" r:id="rId11"/>
    <p:sldId id="272" r:id="rId12"/>
    <p:sldId id="264" r:id="rId13"/>
    <p:sldId id="265" r:id="rId14"/>
    <p:sldId id="266" r:id="rId15"/>
    <p:sldId id="27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(Title)" id="{4B64B685-35BB-425E-83DB-EBE8D8E940D5}">
          <p14:sldIdLst>
            <p14:sldId id="256"/>
          </p14:sldIdLst>
        </p14:section>
        <p14:section name="Seyoung" id="{65A757D7-2339-4D3E-A363-7F568E12AC14}">
          <p14:sldIdLst>
            <p14:sldId id="257"/>
            <p14:sldId id="275"/>
            <p14:sldId id="278"/>
            <p14:sldId id="259"/>
            <p14:sldId id="273"/>
          </p14:sldIdLst>
        </p14:section>
        <p14:section name="Kaushik" id="{A7FA5D31-CCCE-4205-B194-90DDBF8765F7}">
          <p14:sldIdLst>
            <p14:sldId id="270"/>
            <p14:sldId id="269"/>
            <p14:sldId id="274"/>
            <p14:sldId id="262"/>
            <p14:sldId id="272"/>
            <p14:sldId id="264"/>
            <p14:sldId id="265"/>
            <p14:sldId id="266"/>
          </p14:sldIdLst>
        </p14:section>
        <p14:section name="Closing" id="{9378679A-1568-4473-A509-0B7A3780D932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88E5"/>
    <a:srgbClr val="EBF5FB"/>
    <a:srgbClr val="00B4D8"/>
    <a:srgbClr val="00ACC1"/>
    <a:srgbClr val="1A237E"/>
    <a:srgbClr val="C2C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209" autoAdjust="0"/>
  </p:normalViewPr>
  <p:slideViewPr>
    <p:cSldViewPr snapToGrid="0" snapToObjects="1">
      <p:cViewPr>
        <p:scale>
          <a:sx n="150" d="100"/>
          <a:sy n="150" d="100"/>
        </p:scale>
        <p:origin x="20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58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 </a:t>
            </a:r>
            <a:r>
              <a:rPr lang="en-US" dirty="0"/>
              <a:t>Hey everyone, we’re presenting our project on router network optimization using graph algorithms. We modeled a real-world internet routing problem and analyzed different algorithms for it.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Seyoung</a:t>
            </a:r>
            <a:r>
              <a:rPr lang="en-US" b="1" dirty="0"/>
              <a:t>: </a:t>
            </a:r>
          </a:p>
          <a:p>
            <a:r>
              <a:rPr lang="en-US" dirty="0"/>
              <a:t>-&gt; So the main idea is that the internet is basically a network of routers constantly passing data.</a:t>
            </a:r>
            <a:br>
              <a:rPr lang="en-US" dirty="0"/>
            </a:br>
            <a:r>
              <a:rPr lang="en-US" dirty="0"/>
              <a:t>-&gt; Each router needs to decide the best next hop to minimize delay.</a:t>
            </a:r>
          </a:p>
          <a:p>
            <a:r>
              <a:rPr lang="en-US" dirty="0"/>
              <a:t>-&gt; This naturally becomes a shortest path problem on a graph.</a:t>
            </a:r>
          </a:p>
          <a:p>
            <a:r>
              <a:rPr lang="en-US" dirty="0"/>
              <a:t>-&gt; And this is exactly what real protocols like OSPF and BGP are solving.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Seyoung</a:t>
            </a:r>
            <a:r>
              <a:rPr lang="en-US" b="1" dirty="0"/>
              <a:t>:</a:t>
            </a:r>
            <a:r>
              <a:rPr lang="en-US" b="0" dirty="0"/>
              <a:t> </a:t>
            </a:r>
          </a:p>
          <a:p>
            <a:r>
              <a:rPr lang="en-US" dirty="0"/>
              <a:t>We model the network as a directed weighted graph.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have:</a:t>
            </a:r>
          </a:p>
          <a:p>
            <a:r>
              <a:rPr lang="en-US" dirty="0"/>
              <a:t>20 routers as vertices,33 directed edges and weights represent latency in milliseconds </a:t>
            </a:r>
          </a:p>
          <a:p>
            <a:br>
              <a:rPr lang="en-US" dirty="0"/>
            </a:br>
            <a:r>
              <a:rPr lang="en-US" dirty="0"/>
              <a:t>So overall, it’s a directed, weighted graph with no negative weights.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84C0-B2A9-134C-FC88-44F873C76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C54BD-B3AC-3219-EF16-C13C04ABA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8525C-9FE9-3DC6-EDD0-BD9A5B8CA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Seyoung</a:t>
            </a:r>
            <a:r>
              <a:rPr lang="en-US" b="1" dirty="0"/>
              <a:t>: 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We also structured the network into layers to reflect real systems.</a:t>
            </a:r>
          </a:p>
          <a:p>
            <a:br>
              <a:rPr lang="en-US" dirty="0"/>
            </a:br>
            <a:r>
              <a:rPr lang="en-US" dirty="0"/>
              <a:t>Core handles backbone routing,</a:t>
            </a:r>
            <a:br>
              <a:rPr lang="en-US" dirty="0"/>
            </a:br>
            <a:r>
              <a:rPr lang="en-US" dirty="0"/>
              <a:t>Distribution aggregates traffic,</a:t>
            </a:r>
            <a:br>
              <a:rPr lang="en-US" dirty="0"/>
            </a:br>
            <a:r>
              <a:rPr lang="en-US" dirty="0"/>
              <a:t>Edge connects to external networks,</a:t>
            </a:r>
            <a:br>
              <a:rPr lang="en-US" dirty="0"/>
            </a:br>
            <a:r>
              <a:rPr lang="en-US" dirty="0"/>
              <a:t>and Access connects to end users.</a:t>
            </a:r>
          </a:p>
          <a:p>
            <a:br>
              <a:rPr lang="en-US" dirty="0"/>
            </a:br>
            <a:r>
              <a:rPr lang="en-US" dirty="0"/>
              <a:t>This makes the model more realistic instead of just a random graph.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B1C36-AB24-083D-02A7-DEB00CD0D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32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Seyoung</a:t>
            </a:r>
            <a:r>
              <a:rPr lang="en-US" b="1" dirty="0"/>
              <a:t>: 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Here are some key edges from our dataset.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These represent actual latency values between routers.</a:t>
            </a:r>
          </a:p>
          <a:p>
            <a:br>
              <a:rPr lang="en-US" dirty="0"/>
            </a:br>
            <a:r>
              <a:rPr lang="en-US" dirty="0"/>
              <a:t>And on the right, we show how routers are grouped into layers.</a:t>
            </a:r>
          </a:p>
          <a:p>
            <a:br>
              <a:rPr lang="en-US" dirty="0"/>
            </a:br>
            <a:r>
              <a:rPr lang="en-US" dirty="0"/>
              <a:t>The full structure is shown in the adjacency list output next.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F6E8-C617-9799-CAB4-6C24FB8B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F7E9F-9857-9F02-0CD2-A27DBC1FA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2B8E0-99A1-AFD1-5133-FA49D3A11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Seyoung</a:t>
            </a:r>
            <a:r>
              <a:rPr lang="en-US" b="1" dirty="0"/>
              <a:t>: </a:t>
            </a:r>
            <a:r>
              <a:rPr lang="en-US" dirty="0"/>
              <a:t>This is the actual graph printed from our program. It confirms that we correctly built all 20 routers and 33 edges.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F797B-BCD0-05FE-69D1-9389CC94E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57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81BD-2B8F-591E-AA76-E49AD3DD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76D7F-5444-84CC-AA93-6619EA1A5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1FE47-C088-8F01-A0C0-1B7B67174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 </a:t>
            </a:r>
            <a:r>
              <a:rPr lang="en-US" dirty="0"/>
              <a:t>For traversal, we first used BFS.</a:t>
            </a:r>
            <a:endParaRPr lang="en-US" b="1" dirty="0"/>
          </a:p>
          <a:p>
            <a:r>
              <a:rPr lang="en-US" dirty="0"/>
              <a:t>It explores the graph level by level using a queue.</a:t>
            </a:r>
          </a:p>
          <a:p>
            <a:r>
              <a:rPr lang="en-US" dirty="0"/>
              <a:t>It’s useful for checking reachability and finding shortest paths in terms of hops.</a:t>
            </a:r>
          </a:p>
          <a:p>
            <a:r>
              <a:rPr lang="en-US" dirty="0"/>
              <a:t>Time complexity is O(V + E), so it’s very efficient.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9C2A8-4844-210E-F5CC-753F76615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77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7372A-F678-4BC1-C0A7-30314757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1883E-E21E-E45E-EFF3-0BCA98C20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469CD-9F90-F445-810F-752CFBA09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</a:t>
            </a:r>
            <a:r>
              <a:rPr lang="en-US" b="0" dirty="0"/>
              <a:t> </a:t>
            </a:r>
            <a:r>
              <a:rPr lang="en-US" dirty="0"/>
              <a:t>DFS goes deep into the graph first using recursion.</a:t>
            </a:r>
          </a:p>
          <a:p>
            <a:r>
              <a:rPr lang="en-US" dirty="0"/>
              <a:t>It’s useful for exploring structure and detecting cycles.</a:t>
            </a:r>
          </a:p>
          <a:p>
            <a:r>
              <a:rPr lang="en-US" dirty="0"/>
              <a:t>It has the same time complexity as BFS, O(V + E), but behaves differently.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3C552-5316-16DF-ED4F-32F56DE27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80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625AF-78E8-4707-8648-72EE98FB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F73F6-5BD1-E844-6C22-A8F33956A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90A76-BC29-404A-C27B-D82D6454F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</a:t>
            </a:r>
            <a:br>
              <a:rPr lang="en-US" b="0" dirty="0"/>
            </a:br>
            <a:r>
              <a:rPr lang="en-US" dirty="0"/>
              <a:t>This is the main algorithm for shortest path.</a:t>
            </a:r>
          </a:p>
          <a:p>
            <a:r>
              <a:rPr lang="en-US" dirty="0"/>
              <a:t>Dijkstra uses a priority queue and always expands the node with the smallest distance.</a:t>
            </a:r>
          </a:p>
          <a:p>
            <a:r>
              <a:rPr lang="en-US" dirty="0"/>
              <a:t>Time complexity is O((V + E) log V).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From our output, the shortest path from R0 to R19 is: </a:t>
            </a:r>
            <a:r>
              <a:rPr lang="pt-BR" dirty="0"/>
              <a:t>R0 → R1 → R4 → R9 → R15 → R19 = 49 ms</a:t>
            </a:r>
          </a:p>
          <a:p>
            <a:endParaRPr lang="pt-BR" b="1" dirty="0"/>
          </a:p>
          <a:p>
            <a:r>
              <a:rPr lang="en-US" dirty="0"/>
              <a:t>This is the minimum latency path found by the algorithm.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547D7-A746-510B-33DF-72F18F33B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9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</a:t>
            </a:r>
            <a:br>
              <a:rPr lang="en-US" b="0" dirty="0"/>
            </a:br>
            <a:r>
              <a:rPr lang="en-US" dirty="0"/>
              <a:t>Bellman-Ford is similar to Dijkstra but more flexible.</a:t>
            </a:r>
          </a:p>
          <a:p>
            <a:r>
              <a:rPr lang="en-US" dirty="0"/>
              <a:t>It supports negative weights and can detect negative cycles.</a:t>
            </a:r>
          </a:p>
          <a:p>
            <a:r>
              <a:rPr lang="en-US" dirty="0"/>
              <a:t>However, it’s slower with O(V × E) time complexity.</a:t>
            </a:r>
          </a:p>
          <a:p>
            <a:r>
              <a:rPr lang="en-US" dirty="0"/>
              <a:t>In our case, both algorithms produced the same shortest path, confirming correctness.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F5381-94E8-3108-3B2E-618611BF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E5C9F-6B62-8708-CAE3-512C19C98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B03D0-68BE-6DA1-DC4B-78F69AA12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</a:t>
            </a:r>
            <a:br>
              <a:rPr lang="en-US" b="0" dirty="0"/>
            </a:br>
            <a:r>
              <a:rPr lang="en-US" dirty="0"/>
              <a:t>Kruskal is used for building a minimum spanning tree.</a:t>
            </a:r>
          </a:p>
          <a:p>
            <a:r>
              <a:rPr lang="en-US" dirty="0"/>
              <a:t>Instead of shortest path, it minimizes total network cost.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From our output:</a:t>
            </a:r>
          </a:p>
          <a:p>
            <a:r>
              <a:rPr lang="en-US" dirty="0"/>
              <a:t>19 edges </a:t>
            </a:r>
          </a:p>
          <a:p>
            <a:r>
              <a:rPr lang="en-US" dirty="0"/>
              <a:t>total weight = 171 </a:t>
            </a:r>
            <a:r>
              <a:rPr lang="en-US" dirty="0" err="1"/>
              <a:t>ms</a:t>
            </a:r>
            <a:r>
              <a:rPr lang="en-US" dirty="0"/>
              <a:t> </a:t>
            </a:r>
          </a:p>
          <a:p>
            <a:br>
              <a:rPr lang="en-US" dirty="0"/>
            </a:br>
            <a:r>
              <a:rPr lang="en-US" dirty="0"/>
              <a:t>We apply it on an undirected version of the graph.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9FC2A-9160-376C-1666-6906592F8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7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</a:t>
            </a:r>
            <a:br>
              <a:rPr lang="en-US" b="0" dirty="0"/>
            </a:br>
            <a:r>
              <a:rPr lang="en-US" dirty="0"/>
              <a:t>This slide summarizes the complexity of all algorithms.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BFS and DFS are linear,</a:t>
            </a:r>
            <a:br>
              <a:rPr lang="en-US" dirty="0"/>
            </a:br>
            <a:r>
              <a:rPr lang="en-US" dirty="0"/>
              <a:t>Dijkstra is logarithmic due to the heap,</a:t>
            </a:r>
            <a:br>
              <a:rPr lang="en-US" dirty="0"/>
            </a:br>
            <a:r>
              <a:rPr lang="en-US" dirty="0"/>
              <a:t>Bellman-Ford is slower,</a:t>
            </a:r>
            <a:br>
              <a:rPr lang="en-US" dirty="0"/>
            </a:br>
            <a:r>
              <a:rPr lang="en-US" dirty="0"/>
              <a:t>and Kruskal depends on sorting edges.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</a:t>
            </a:r>
            <a:br>
              <a:rPr lang="en-US" b="0" dirty="0"/>
            </a:br>
            <a:r>
              <a:rPr lang="en-US" dirty="0"/>
              <a:t>We tested all algorithms on different graph sizes.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Key observations:</a:t>
            </a:r>
          </a:p>
          <a:p>
            <a:r>
              <a:rPr lang="en-US" dirty="0"/>
              <a:t>BFS and DFS are the fastest </a:t>
            </a:r>
          </a:p>
          <a:p>
            <a:r>
              <a:rPr lang="en-US" dirty="0"/>
              <a:t>Dijkstra and Bellman-Ford perform similarly at this scale </a:t>
            </a:r>
          </a:p>
          <a:p>
            <a:r>
              <a:rPr lang="en-US" dirty="0"/>
              <a:t>Kruskal increases significantly on dense graphs due to sorting overhead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</a:t>
            </a:r>
            <a:br>
              <a:rPr lang="en-US" b="0" dirty="0"/>
            </a:br>
            <a:r>
              <a:rPr lang="en-US" dirty="0"/>
              <a:t>So overall:</a:t>
            </a:r>
          </a:p>
          <a:p>
            <a:r>
              <a:rPr lang="en-US" dirty="0"/>
              <a:t>Dijkstra is best for shortest path with non-negative weights </a:t>
            </a:r>
          </a:p>
          <a:p>
            <a:r>
              <a:rPr lang="en-US" dirty="0"/>
              <a:t>Bellman-Ford is useful when negative weights exist </a:t>
            </a:r>
          </a:p>
          <a:p>
            <a:r>
              <a:rPr lang="en-US" dirty="0"/>
              <a:t>BFS and DFS are great for graph exploration </a:t>
            </a:r>
          </a:p>
          <a:p>
            <a:r>
              <a:rPr lang="en-US" dirty="0"/>
              <a:t>Kruskal is useful for network design </a:t>
            </a:r>
          </a:p>
          <a:p>
            <a:r>
              <a:rPr lang="en-US" dirty="0"/>
              <a:t>This shows how these algorithms directly apply to real-world internet routing.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A5F9-01A3-5F83-F45B-E75F173C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A6C0A-C638-4B1E-2495-FAB93A20B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C976D-E364-AB17-4B02-2485A2958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Kaushik:</a:t>
            </a:r>
            <a:br>
              <a:rPr lang="en-US" b="0" dirty="0"/>
            </a:br>
            <a:r>
              <a:rPr lang="en-US" dirty="0"/>
              <a:t>And that’s our project — thank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D9857-D4BD-5E16-E31F-BBC17AB84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52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457200" y="330327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109728" cy="50520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813816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Router Network Optimization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728025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Problem Using Directed Weighted Graphs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98598"/>
            <a:ext cx="45720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68147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- 4400: Analysis of Algorithms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4723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USF Bellini College of AI, Cybersecurity and Computing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95878"/>
            <a:ext cx="548640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73303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963543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Seyoung Kan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U36444259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 Selvakumar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U75300364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6D1990D-FF61-E13D-E219-73CCC221B167}"/>
              </a:ext>
            </a:extLst>
          </p:cNvPr>
          <p:cNvSpPr/>
          <p:nvPr/>
        </p:nvSpPr>
        <p:spPr>
          <a:xfrm>
            <a:off x="457200" y="321183"/>
            <a:ext cx="5943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69080" cy="32461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routes billions of data packets daily through networks of interconnected routers.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Each router must decide the </a:t>
            </a: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next hop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deliver packets efficiently.
This is fundamentally a </a:t>
            </a: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Problem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directed weighted graph.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069080" cy="32461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(Open Shortest Path First) routing protocol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(Border Gateway Protocol)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 Networks (CDN)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&amp; real-time streaming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routing (AWS, Azure, GCP)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 — Router Network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640080"/>
            <a:ext cx="2926080" cy="11887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6888" y="685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(V)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" y="10241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Routers  •  Labeled R0 – R19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= a physical network node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" y="1920240"/>
            <a:ext cx="2926080" cy="11887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(E)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" y="23042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Directed connections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links between routers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routing supported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" y="3200400"/>
            <a:ext cx="2926080" cy="1188720"/>
          </a:xfrm>
          <a:prstGeom prst="rect">
            <a:avLst/>
          </a:prstGeom>
          <a:solidFill>
            <a:srgbClr val="0D6E56"/>
          </a:solidFill>
          <a:ln w="12700">
            <a:solidFill>
              <a:srgbClr val="0D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" y="35844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in milliseconds (ms)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5ms – 22ms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slower link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449884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451713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 •  Weighted  •  No Negative Weights</a:t>
            </a:r>
            <a:endParaRPr lang="en-US" sz="1000" dirty="0"/>
          </a:p>
        </p:txBody>
      </p:sp>
      <p:pic>
        <p:nvPicPr>
          <p:cNvPr id="15" name="Image 0" descr="/home/claude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594360"/>
            <a:ext cx="5760720" cy="409670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46120" y="473144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(V,E)  |V|=20  |E|=33  w(u,v)=latency(ms)  ★ Orange = shortest path R0→R19 = 49ms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61147-0450-8A2C-590A-CC60450A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656A02-DC6D-4375-39BC-E3BE28C57227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BA8F5B-26DE-E603-DE95-F7DD236C2E9D}"/>
              </a:ext>
            </a:extLst>
          </p:cNvPr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Architecture Layers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D3DF99-CA3F-7D0F-B4A9-FE72A468B30E}"/>
              </a:ext>
            </a:extLst>
          </p:cNvPr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EBDF2E0-8E10-B313-F5A8-13B271DAE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494524"/>
              </p:ext>
            </p:extLst>
          </p:nvPr>
        </p:nvGraphicFramePr>
        <p:xfrm>
          <a:off x="411480" y="1314450"/>
          <a:ext cx="8321040" cy="3234686"/>
        </p:xfrm>
        <a:graphic>
          <a:graphicData uri="http://schemas.openxmlformats.org/drawingml/2006/table">
            <a:tbl>
              <a:tblPr/>
              <a:tblGrid>
                <a:gridCol w="134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R0, 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High-speed backbone; interconnect all distribution routers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R2–R4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edge-layer traffic; route to 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R5–R9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to ISPs and CDNs; first-hop for external traffic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ISP/CDN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R10–R13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service providers and content delivery nodes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R14, R15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gateway before access subnets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R16–R19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End-user subnets; final hop to user devices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09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20 Router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0803E8D8-65EF-241F-C8C5-7E6846E1C7B3}"/>
              </a:ext>
            </a:extLst>
          </p:cNvPr>
          <p:cNvSpPr/>
          <p:nvPr/>
        </p:nvSpPr>
        <p:spPr>
          <a:xfrm>
            <a:off x="274320" y="102166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Edges  (Source → Destination : Latency)</a:t>
            </a:r>
            <a:endParaRPr lang="en-US" sz="1100" dirty="0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9F8D4D8C-AE76-82CD-B43D-5FCAEFB1132A}"/>
              </a:ext>
            </a:extLst>
          </p:cNvPr>
          <p:cNvSpPr/>
          <p:nvPr/>
        </p:nvSpPr>
        <p:spPr>
          <a:xfrm>
            <a:off x="274320" y="1528279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A45BE43F-761D-67AB-1D53-D2A9F6BC9CCF}"/>
              </a:ext>
            </a:extLst>
          </p:cNvPr>
          <p:cNvSpPr/>
          <p:nvPr/>
        </p:nvSpPr>
        <p:spPr>
          <a:xfrm>
            <a:off x="320040" y="1564855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R0→R1</a:t>
            </a:r>
            <a:endParaRPr lang="en-US" sz="1050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1C576991-27F8-F262-D5F0-2FBFFE8A9B32}"/>
              </a:ext>
            </a:extLst>
          </p:cNvPr>
          <p:cNvSpPr/>
          <p:nvPr/>
        </p:nvSpPr>
        <p:spPr>
          <a:xfrm>
            <a:off x="320040" y="1775167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10ms</a:t>
            </a:r>
            <a:endParaRPr lang="en-US" sz="1100" dirty="0"/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F0530AC9-D55B-D1EC-E2A1-123D7109235A}"/>
              </a:ext>
            </a:extLst>
          </p:cNvPr>
          <p:cNvSpPr/>
          <p:nvPr/>
        </p:nvSpPr>
        <p:spPr>
          <a:xfrm>
            <a:off x="1892808" y="1528279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114FCB69-2507-FCEE-54C3-4ADC1940D6E1}"/>
              </a:ext>
            </a:extLst>
          </p:cNvPr>
          <p:cNvSpPr/>
          <p:nvPr/>
        </p:nvSpPr>
        <p:spPr>
          <a:xfrm>
            <a:off x="1938528" y="1564855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R0→R2</a:t>
            </a:r>
            <a:endParaRPr lang="en-US" sz="1050" dirty="0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6CFC4052-EBDC-223A-950C-891307482D8E}"/>
              </a:ext>
            </a:extLst>
          </p:cNvPr>
          <p:cNvSpPr/>
          <p:nvPr/>
        </p:nvSpPr>
        <p:spPr>
          <a:xfrm>
            <a:off x="1938528" y="1775167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15ms</a:t>
            </a:r>
            <a:endParaRPr lang="en-US" sz="1100" dirty="0"/>
          </a:p>
        </p:txBody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065265FA-F091-E38B-3ED8-073173A1216F}"/>
              </a:ext>
            </a:extLst>
          </p:cNvPr>
          <p:cNvSpPr/>
          <p:nvPr/>
        </p:nvSpPr>
        <p:spPr>
          <a:xfrm>
            <a:off x="3511296" y="1528279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3AF48905-5B29-A4ED-9AA0-FCCFBD43D26C}"/>
              </a:ext>
            </a:extLst>
          </p:cNvPr>
          <p:cNvSpPr/>
          <p:nvPr/>
        </p:nvSpPr>
        <p:spPr>
          <a:xfrm>
            <a:off x="3557016" y="1564855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R0→R3</a:t>
            </a:r>
            <a:endParaRPr lang="en-US" sz="1050" dirty="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81CDA0C3-A2BE-F8E5-E872-E3975DE15ECC}"/>
              </a:ext>
            </a:extLst>
          </p:cNvPr>
          <p:cNvSpPr/>
          <p:nvPr/>
        </p:nvSpPr>
        <p:spPr>
          <a:xfrm>
            <a:off x="3557016" y="1775167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</a:t>
            </a:r>
            <a:endParaRPr lang="en-US" sz="1100" dirty="0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B83DF3FE-412F-BA73-110C-DB83BEF6FA07}"/>
              </a:ext>
            </a:extLst>
          </p:cNvPr>
          <p:cNvSpPr/>
          <p:nvPr/>
        </p:nvSpPr>
        <p:spPr>
          <a:xfrm>
            <a:off x="274320" y="2104351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638D1AEC-7443-6584-6F8E-BEFE4686E454}"/>
              </a:ext>
            </a:extLst>
          </p:cNvPr>
          <p:cNvSpPr/>
          <p:nvPr/>
        </p:nvSpPr>
        <p:spPr>
          <a:xfrm>
            <a:off x="320040" y="2140927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R1→R4</a:t>
            </a:r>
            <a:endParaRPr lang="en-US" sz="1050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8626C2FD-EA73-ADAB-C00C-4F6E7F4C8CA5}"/>
              </a:ext>
            </a:extLst>
          </p:cNvPr>
          <p:cNvSpPr/>
          <p:nvPr/>
        </p:nvSpPr>
        <p:spPr>
          <a:xfrm>
            <a:off x="320040" y="2351239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12ms</a:t>
            </a:r>
            <a:endParaRPr lang="en-US" sz="1100" dirty="0"/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B81EEAE0-8A8B-FD3E-241A-021DFD3CE5C5}"/>
              </a:ext>
            </a:extLst>
          </p:cNvPr>
          <p:cNvSpPr/>
          <p:nvPr/>
        </p:nvSpPr>
        <p:spPr>
          <a:xfrm>
            <a:off x="1892808" y="2104351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676F164F-9D99-0CAE-F026-FF0F72A66843}"/>
              </a:ext>
            </a:extLst>
          </p:cNvPr>
          <p:cNvSpPr/>
          <p:nvPr/>
        </p:nvSpPr>
        <p:spPr>
          <a:xfrm>
            <a:off x="1938528" y="2140927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R1→R5</a:t>
            </a:r>
            <a:endParaRPr lang="en-US" sz="105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139C665F-091B-2302-8777-D21ED096C5AD}"/>
              </a:ext>
            </a:extLst>
          </p:cNvPr>
          <p:cNvSpPr/>
          <p:nvPr/>
        </p:nvSpPr>
        <p:spPr>
          <a:xfrm>
            <a:off x="1938528" y="2351239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18ms</a:t>
            </a:r>
            <a:endParaRPr lang="en-US" sz="1100" dirty="0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A0858784-F0BB-C563-F0B5-1A5B63355A4F}"/>
              </a:ext>
            </a:extLst>
          </p:cNvPr>
          <p:cNvSpPr/>
          <p:nvPr/>
        </p:nvSpPr>
        <p:spPr>
          <a:xfrm>
            <a:off x="3511296" y="2104351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066B7C34-0266-5A98-0C9C-7414D2D7DA80}"/>
              </a:ext>
            </a:extLst>
          </p:cNvPr>
          <p:cNvSpPr/>
          <p:nvPr/>
        </p:nvSpPr>
        <p:spPr>
          <a:xfrm>
            <a:off x="3557016" y="2140927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R2→R4</a:t>
            </a:r>
            <a:endParaRPr lang="en-US" sz="105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4BD341FC-D020-E300-3B77-4C1D335AFA22}"/>
              </a:ext>
            </a:extLst>
          </p:cNvPr>
          <p:cNvSpPr/>
          <p:nvPr/>
        </p:nvSpPr>
        <p:spPr>
          <a:xfrm>
            <a:off x="3557016" y="2351239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8ms</a:t>
            </a:r>
            <a:endParaRPr lang="en-US" sz="1100" dirty="0"/>
          </a:p>
        </p:txBody>
      </p:sp>
      <p:sp>
        <p:nvSpPr>
          <p:cNvPr id="67" name="Shape 20">
            <a:extLst>
              <a:ext uri="{FF2B5EF4-FFF2-40B4-BE49-F238E27FC236}">
                <a16:creationId xmlns:a16="http://schemas.microsoft.com/office/drawing/2014/main" id="{9E4CEA2F-4818-BD18-5A6C-F604BF5129F1}"/>
              </a:ext>
            </a:extLst>
          </p:cNvPr>
          <p:cNvSpPr/>
          <p:nvPr/>
        </p:nvSpPr>
        <p:spPr>
          <a:xfrm>
            <a:off x="274320" y="2680423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1311A4F-A52B-8959-CB69-86490E78BC7A}"/>
              </a:ext>
            </a:extLst>
          </p:cNvPr>
          <p:cNvSpPr/>
          <p:nvPr/>
        </p:nvSpPr>
        <p:spPr>
          <a:xfrm>
            <a:off x="320040" y="2716999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R3→R7</a:t>
            </a:r>
            <a:endParaRPr lang="en-US" sz="1050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F55A5459-5854-40C7-BEE6-4846C400A4DD}"/>
              </a:ext>
            </a:extLst>
          </p:cNvPr>
          <p:cNvSpPr/>
          <p:nvPr/>
        </p:nvSpPr>
        <p:spPr>
          <a:xfrm>
            <a:off x="320040" y="2927311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9ms</a:t>
            </a:r>
            <a:endParaRPr lang="en-US" sz="1100" dirty="0"/>
          </a:p>
        </p:txBody>
      </p:sp>
      <p:sp>
        <p:nvSpPr>
          <p:cNvPr id="70" name="Shape 23">
            <a:extLst>
              <a:ext uri="{FF2B5EF4-FFF2-40B4-BE49-F238E27FC236}">
                <a16:creationId xmlns:a16="http://schemas.microsoft.com/office/drawing/2014/main" id="{0AD828BB-426A-26BF-6A1E-DEF2099E80B4}"/>
              </a:ext>
            </a:extLst>
          </p:cNvPr>
          <p:cNvSpPr/>
          <p:nvPr/>
        </p:nvSpPr>
        <p:spPr>
          <a:xfrm>
            <a:off x="1892808" y="2680423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24">
            <a:extLst>
              <a:ext uri="{FF2B5EF4-FFF2-40B4-BE49-F238E27FC236}">
                <a16:creationId xmlns:a16="http://schemas.microsoft.com/office/drawing/2014/main" id="{71E7D597-B7FF-1B70-7541-A3668B6CC2FD}"/>
              </a:ext>
            </a:extLst>
          </p:cNvPr>
          <p:cNvSpPr/>
          <p:nvPr/>
        </p:nvSpPr>
        <p:spPr>
          <a:xfrm>
            <a:off x="1938528" y="2716999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R4→R9</a:t>
            </a:r>
            <a:endParaRPr lang="en-US" sz="1050" dirty="0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D71955AD-4144-0F54-B6CB-A9B3D08EAAE9}"/>
              </a:ext>
            </a:extLst>
          </p:cNvPr>
          <p:cNvSpPr/>
          <p:nvPr/>
        </p:nvSpPr>
        <p:spPr>
          <a:xfrm>
            <a:off x="1938528" y="2927311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7ms</a:t>
            </a:r>
            <a:endParaRPr lang="en-US" sz="1100" dirty="0"/>
          </a:p>
        </p:txBody>
      </p:sp>
      <p:sp>
        <p:nvSpPr>
          <p:cNvPr id="73" name="Shape 26">
            <a:extLst>
              <a:ext uri="{FF2B5EF4-FFF2-40B4-BE49-F238E27FC236}">
                <a16:creationId xmlns:a16="http://schemas.microsoft.com/office/drawing/2014/main" id="{4890397D-E7D3-A4FC-3753-C62FFEFB5A4C}"/>
              </a:ext>
            </a:extLst>
          </p:cNvPr>
          <p:cNvSpPr/>
          <p:nvPr/>
        </p:nvSpPr>
        <p:spPr>
          <a:xfrm>
            <a:off x="3511296" y="2680423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5A9D5FC5-5AB7-CE42-FF79-363543C370C4}"/>
              </a:ext>
            </a:extLst>
          </p:cNvPr>
          <p:cNvSpPr/>
          <p:nvPr/>
        </p:nvSpPr>
        <p:spPr>
          <a:xfrm>
            <a:off x="3557016" y="2716999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R7→R11</a:t>
            </a:r>
            <a:endParaRPr lang="en-US" sz="1050" dirty="0"/>
          </a:p>
        </p:txBody>
      </p:sp>
      <p:sp>
        <p:nvSpPr>
          <p:cNvPr id="75" name="Text 28">
            <a:extLst>
              <a:ext uri="{FF2B5EF4-FFF2-40B4-BE49-F238E27FC236}">
                <a16:creationId xmlns:a16="http://schemas.microsoft.com/office/drawing/2014/main" id="{0B814375-52B7-89DB-B4FD-2E0D2697B336}"/>
              </a:ext>
            </a:extLst>
          </p:cNvPr>
          <p:cNvSpPr/>
          <p:nvPr/>
        </p:nvSpPr>
        <p:spPr>
          <a:xfrm>
            <a:off x="3557016" y="2927311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</a:t>
            </a:r>
            <a:endParaRPr lang="en-US" sz="1100" dirty="0"/>
          </a:p>
        </p:txBody>
      </p:sp>
      <p:sp>
        <p:nvSpPr>
          <p:cNvPr id="76" name="Shape 29">
            <a:extLst>
              <a:ext uri="{FF2B5EF4-FFF2-40B4-BE49-F238E27FC236}">
                <a16:creationId xmlns:a16="http://schemas.microsoft.com/office/drawing/2014/main" id="{A5C325D9-B8EE-6272-8554-234B14F22D9A}"/>
              </a:ext>
            </a:extLst>
          </p:cNvPr>
          <p:cNvSpPr/>
          <p:nvPr/>
        </p:nvSpPr>
        <p:spPr>
          <a:xfrm>
            <a:off x="274320" y="3256495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B968DB22-9DD2-40E6-7330-DC33771FC08B}"/>
              </a:ext>
            </a:extLst>
          </p:cNvPr>
          <p:cNvSpPr/>
          <p:nvPr/>
        </p:nvSpPr>
        <p:spPr>
          <a:xfrm>
            <a:off x="320040" y="3293071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R9→R15</a:t>
            </a:r>
            <a:endParaRPr lang="en-US" sz="1050" dirty="0"/>
          </a:p>
        </p:txBody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A87503D0-E199-5261-2A61-19E23561B33B}"/>
              </a:ext>
            </a:extLst>
          </p:cNvPr>
          <p:cNvSpPr/>
          <p:nvPr/>
        </p:nvSpPr>
        <p:spPr>
          <a:xfrm>
            <a:off x="320040" y="3503383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11ms</a:t>
            </a:r>
            <a:endParaRPr lang="en-US" sz="1100" dirty="0"/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F01F99AF-45CE-7C97-E74A-372698380437}"/>
              </a:ext>
            </a:extLst>
          </p:cNvPr>
          <p:cNvSpPr/>
          <p:nvPr/>
        </p:nvSpPr>
        <p:spPr>
          <a:xfrm>
            <a:off x="1892808" y="3256495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33">
            <a:extLst>
              <a:ext uri="{FF2B5EF4-FFF2-40B4-BE49-F238E27FC236}">
                <a16:creationId xmlns:a16="http://schemas.microsoft.com/office/drawing/2014/main" id="{DE9CAE8F-FAD3-D230-EFE6-0C355B2E0CF1}"/>
              </a:ext>
            </a:extLst>
          </p:cNvPr>
          <p:cNvSpPr/>
          <p:nvPr/>
        </p:nvSpPr>
        <p:spPr>
          <a:xfrm>
            <a:off x="1938528" y="3293071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R11→R16</a:t>
            </a:r>
            <a:endParaRPr lang="en-US" sz="1050" dirty="0"/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A1B29E18-C14A-7E4D-608B-CF99D0C0B9A0}"/>
              </a:ext>
            </a:extLst>
          </p:cNvPr>
          <p:cNvSpPr/>
          <p:nvPr/>
        </p:nvSpPr>
        <p:spPr>
          <a:xfrm>
            <a:off x="1938528" y="3503383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8ms</a:t>
            </a:r>
            <a:endParaRPr lang="en-US" sz="1100" dirty="0"/>
          </a:p>
        </p:txBody>
      </p:sp>
      <p:sp>
        <p:nvSpPr>
          <p:cNvPr id="82" name="Shape 35">
            <a:extLst>
              <a:ext uri="{FF2B5EF4-FFF2-40B4-BE49-F238E27FC236}">
                <a16:creationId xmlns:a16="http://schemas.microsoft.com/office/drawing/2014/main" id="{4261EB29-6B65-470D-10CC-A2D3836C8CB7}"/>
              </a:ext>
            </a:extLst>
          </p:cNvPr>
          <p:cNvSpPr/>
          <p:nvPr/>
        </p:nvSpPr>
        <p:spPr>
          <a:xfrm>
            <a:off x="3511296" y="3256495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36">
            <a:extLst>
              <a:ext uri="{FF2B5EF4-FFF2-40B4-BE49-F238E27FC236}">
                <a16:creationId xmlns:a16="http://schemas.microsoft.com/office/drawing/2014/main" id="{29741715-4A38-36D1-C033-2A191CB8B422}"/>
              </a:ext>
            </a:extLst>
          </p:cNvPr>
          <p:cNvSpPr/>
          <p:nvPr/>
        </p:nvSpPr>
        <p:spPr>
          <a:xfrm>
            <a:off x="3557016" y="3293071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R16→R19</a:t>
            </a:r>
            <a:endParaRPr lang="en-US" sz="1050" dirty="0"/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DD9A2948-5274-4239-A3D1-D409D77416A2}"/>
              </a:ext>
            </a:extLst>
          </p:cNvPr>
          <p:cNvSpPr/>
          <p:nvPr/>
        </p:nvSpPr>
        <p:spPr>
          <a:xfrm>
            <a:off x="3557016" y="3503383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7ms</a:t>
            </a:r>
            <a:endParaRPr lang="en-US" sz="1100" dirty="0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6EC69336-3859-EEFC-A720-B8C5CF5CC105}"/>
              </a:ext>
            </a:extLst>
          </p:cNvPr>
          <p:cNvSpPr/>
          <p:nvPr/>
        </p:nvSpPr>
        <p:spPr>
          <a:xfrm>
            <a:off x="274320" y="3832567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39">
            <a:extLst>
              <a:ext uri="{FF2B5EF4-FFF2-40B4-BE49-F238E27FC236}">
                <a16:creationId xmlns:a16="http://schemas.microsoft.com/office/drawing/2014/main" id="{4E4014CE-7A19-4980-D607-BC3957A1BD08}"/>
              </a:ext>
            </a:extLst>
          </p:cNvPr>
          <p:cNvSpPr/>
          <p:nvPr/>
        </p:nvSpPr>
        <p:spPr>
          <a:xfrm>
            <a:off x="320040" y="3869143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R13→R19</a:t>
            </a:r>
            <a:endParaRPr lang="en-US" sz="1050" dirty="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A20C437D-4267-07D1-43F0-9FAB709BA53B}"/>
              </a:ext>
            </a:extLst>
          </p:cNvPr>
          <p:cNvSpPr/>
          <p:nvPr/>
        </p:nvSpPr>
        <p:spPr>
          <a:xfrm>
            <a:off x="320040" y="4079455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10ms</a:t>
            </a:r>
            <a:endParaRPr lang="en-US" sz="1100" dirty="0"/>
          </a:p>
        </p:txBody>
      </p:sp>
      <p:sp>
        <p:nvSpPr>
          <p:cNvPr id="88" name="Shape 41">
            <a:extLst>
              <a:ext uri="{FF2B5EF4-FFF2-40B4-BE49-F238E27FC236}">
                <a16:creationId xmlns:a16="http://schemas.microsoft.com/office/drawing/2014/main" id="{72CDE886-309B-8402-C811-725C55F5F228}"/>
              </a:ext>
            </a:extLst>
          </p:cNvPr>
          <p:cNvSpPr/>
          <p:nvPr/>
        </p:nvSpPr>
        <p:spPr>
          <a:xfrm>
            <a:off x="1892808" y="3832567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FFFDB366-B680-08F6-0A49-E3FE8A970D20}"/>
              </a:ext>
            </a:extLst>
          </p:cNvPr>
          <p:cNvSpPr/>
          <p:nvPr/>
        </p:nvSpPr>
        <p:spPr>
          <a:xfrm>
            <a:off x="1938528" y="3869143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R14→R19</a:t>
            </a:r>
            <a:endParaRPr lang="en-US" sz="1050" dirty="0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4565F1B3-BF4F-34C7-FAED-898CC9990CC2}"/>
              </a:ext>
            </a:extLst>
          </p:cNvPr>
          <p:cNvSpPr/>
          <p:nvPr/>
        </p:nvSpPr>
        <p:spPr>
          <a:xfrm>
            <a:off x="1938528" y="4079455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12ms</a:t>
            </a:r>
            <a:endParaRPr lang="en-US" sz="110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49ED674F-3552-6A72-9486-919A34ACA6DE}"/>
              </a:ext>
            </a:extLst>
          </p:cNvPr>
          <p:cNvSpPr/>
          <p:nvPr/>
        </p:nvSpPr>
        <p:spPr>
          <a:xfrm>
            <a:off x="3511296" y="3832567"/>
            <a:ext cx="1554480" cy="502920"/>
          </a:xfrm>
          <a:prstGeom prst="rect">
            <a:avLst/>
          </a:prstGeom>
          <a:solidFill>
            <a:srgbClr val="E0F2F7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45">
            <a:extLst>
              <a:ext uri="{FF2B5EF4-FFF2-40B4-BE49-F238E27FC236}">
                <a16:creationId xmlns:a16="http://schemas.microsoft.com/office/drawing/2014/main" id="{17C27B02-D90F-357E-77F2-3A92C4876166}"/>
              </a:ext>
            </a:extLst>
          </p:cNvPr>
          <p:cNvSpPr/>
          <p:nvPr/>
        </p:nvSpPr>
        <p:spPr>
          <a:xfrm>
            <a:off x="3557016" y="3869143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R15→R19</a:t>
            </a:r>
            <a:endParaRPr lang="en-US" sz="1050" dirty="0"/>
          </a:p>
        </p:txBody>
      </p:sp>
      <p:sp>
        <p:nvSpPr>
          <p:cNvPr id="93" name="Text 46">
            <a:extLst>
              <a:ext uri="{FF2B5EF4-FFF2-40B4-BE49-F238E27FC236}">
                <a16:creationId xmlns:a16="http://schemas.microsoft.com/office/drawing/2014/main" id="{9578D513-1ED7-2269-5B77-DCC728753FD7}"/>
              </a:ext>
            </a:extLst>
          </p:cNvPr>
          <p:cNvSpPr/>
          <p:nvPr/>
        </p:nvSpPr>
        <p:spPr>
          <a:xfrm>
            <a:off x="3557016" y="4079455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9ms</a:t>
            </a:r>
            <a:endParaRPr lang="en-US" sz="1100" dirty="0"/>
          </a:p>
        </p:txBody>
      </p:sp>
      <p:sp>
        <p:nvSpPr>
          <p:cNvPr id="94" name="Text 47">
            <a:extLst>
              <a:ext uri="{FF2B5EF4-FFF2-40B4-BE49-F238E27FC236}">
                <a16:creationId xmlns:a16="http://schemas.microsoft.com/office/drawing/2014/main" id="{EB49F62D-D93A-7F09-5273-200887543F55}"/>
              </a:ext>
            </a:extLst>
          </p:cNvPr>
          <p:cNvSpPr/>
          <p:nvPr/>
        </p:nvSpPr>
        <p:spPr>
          <a:xfrm>
            <a:off x="5312664" y="102659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Layers</a:t>
            </a:r>
            <a:endParaRPr lang="en-US" sz="1100" dirty="0"/>
          </a:p>
        </p:txBody>
      </p:sp>
      <p:sp>
        <p:nvSpPr>
          <p:cNvPr id="95" name="Shape 48">
            <a:extLst>
              <a:ext uri="{FF2B5EF4-FFF2-40B4-BE49-F238E27FC236}">
                <a16:creationId xmlns:a16="http://schemas.microsoft.com/office/drawing/2014/main" id="{F03C7977-A30B-9B96-B5AA-D7484DABC569}"/>
              </a:ext>
            </a:extLst>
          </p:cNvPr>
          <p:cNvSpPr/>
          <p:nvPr/>
        </p:nvSpPr>
        <p:spPr>
          <a:xfrm>
            <a:off x="5312664" y="1364918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49">
            <a:extLst>
              <a:ext uri="{FF2B5EF4-FFF2-40B4-BE49-F238E27FC236}">
                <a16:creationId xmlns:a16="http://schemas.microsoft.com/office/drawing/2014/main" id="{B3A6A3A5-F65E-9912-613B-6A045BB7E192}"/>
              </a:ext>
            </a:extLst>
          </p:cNvPr>
          <p:cNvSpPr/>
          <p:nvPr/>
        </p:nvSpPr>
        <p:spPr>
          <a:xfrm>
            <a:off x="5312664" y="1364918"/>
            <a:ext cx="82296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50">
            <a:extLst>
              <a:ext uri="{FF2B5EF4-FFF2-40B4-BE49-F238E27FC236}">
                <a16:creationId xmlns:a16="http://schemas.microsoft.com/office/drawing/2014/main" id="{C00D56D5-FFE9-BB74-34A9-AD7914B316F4}"/>
              </a:ext>
            </a:extLst>
          </p:cNvPr>
          <p:cNvSpPr/>
          <p:nvPr/>
        </p:nvSpPr>
        <p:spPr>
          <a:xfrm>
            <a:off x="5321808" y="1364918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</p:txBody>
      </p:sp>
      <p:sp>
        <p:nvSpPr>
          <p:cNvPr id="98" name="Text 51">
            <a:extLst>
              <a:ext uri="{FF2B5EF4-FFF2-40B4-BE49-F238E27FC236}">
                <a16:creationId xmlns:a16="http://schemas.microsoft.com/office/drawing/2014/main" id="{2D0F757C-643B-66EB-DA09-E5026B81499C}"/>
              </a:ext>
            </a:extLst>
          </p:cNvPr>
          <p:cNvSpPr/>
          <p:nvPr/>
        </p:nvSpPr>
        <p:spPr>
          <a:xfrm>
            <a:off x="6199632" y="136491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R0, R1</a:t>
            </a:r>
            <a:endParaRPr lang="en-US" sz="1100" dirty="0"/>
          </a:p>
        </p:txBody>
      </p:sp>
      <p:sp>
        <p:nvSpPr>
          <p:cNvPr id="99" name="Shape 52">
            <a:extLst>
              <a:ext uri="{FF2B5EF4-FFF2-40B4-BE49-F238E27FC236}">
                <a16:creationId xmlns:a16="http://schemas.microsoft.com/office/drawing/2014/main" id="{BC0D68B0-8A2C-8CA7-1DD5-8BEF829BFC68}"/>
              </a:ext>
            </a:extLst>
          </p:cNvPr>
          <p:cNvSpPr/>
          <p:nvPr/>
        </p:nvSpPr>
        <p:spPr>
          <a:xfrm>
            <a:off x="5312664" y="1886126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53">
            <a:extLst>
              <a:ext uri="{FF2B5EF4-FFF2-40B4-BE49-F238E27FC236}">
                <a16:creationId xmlns:a16="http://schemas.microsoft.com/office/drawing/2014/main" id="{3327F395-30B3-56EF-A526-9FAE2C8B406C}"/>
              </a:ext>
            </a:extLst>
          </p:cNvPr>
          <p:cNvSpPr/>
          <p:nvPr/>
        </p:nvSpPr>
        <p:spPr>
          <a:xfrm>
            <a:off x="5312664" y="1886126"/>
            <a:ext cx="822960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54">
            <a:extLst>
              <a:ext uri="{FF2B5EF4-FFF2-40B4-BE49-F238E27FC236}">
                <a16:creationId xmlns:a16="http://schemas.microsoft.com/office/drawing/2014/main" id="{A8A4C5E9-0710-9CA5-A5F0-FE79D225646A}"/>
              </a:ext>
            </a:extLst>
          </p:cNvPr>
          <p:cNvSpPr/>
          <p:nvPr/>
        </p:nvSpPr>
        <p:spPr>
          <a:xfrm>
            <a:off x="5321808" y="1886126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50" dirty="0"/>
          </a:p>
        </p:txBody>
      </p:sp>
      <p:sp>
        <p:nvSpPr>
          <p:cNvPr id="102" name="Text 55">
            <a:extLst>
              <a:ext uri="{FF2B5EF4-FFF2-40B4-BE49-F238E27FC236}">
                <a16:creationId xmlns:a16="http://schemas.microsoft.com/office/drawing/2014/main" id="{4579D25A-5736-D851-76E3-96CDF63C47A2}"/>
              </a:ext>
            </a:extLst>
          </p:cNvPr>
          <p:cNvSpPr/>
          <p:nvPr/>
        </p:nvSpPr>
        <p:spPr>
          <a:xfrm>
            <a:off x="6199632" y="1886126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R2–R4</a:t>
            </a:r>
            <a:endParaRPr lang="en-US" sz="1100" dirty="0"/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07E8B83F-E98C-CDAC-1799-F4DA835D365F}"/>
              </a:ext>
            </a:extLst>
          </p:cNvPr>
          <p:cNvSpPr/>
          <p:nvPr/>
        </p:nvSpPr>
        <p:spPr>
          <a:xfrm>
            <a:off x="5312664" y="2407334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57">
            <a:extLst>
              <a:ext uri="{FF2B5EF4-FFF2-40B4-BE49-F238E27FC236}">
                <a16:creationId xmlns:a16="http://schemas.microsoft.com/office/drawing/2014/main" id="{7BB781D2-A33E-73D4-3A72-9F6957B85732}"/>
              </a:ext>
            </a:extLst>
          </p:cNvPr>
          <p:cNvSpPr/>
          <p:nvPr/>
        </p:nvSpPr>
        <p:spPr>
          <a:xfrm>
            <a:off x="5312664" y="2407334"/>
            <a:ext cx="82296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58">
            <a:extLst>
              <a:ext uri="{FF2B5EF4-FFF2-40B4-BE49-F238E27FC236}">
                <a16:creationId xmlns:a16="http://schemas.microsoft.com/office/drawing/2014/main" id="{ED671DCE-832B-A95F-8EF4-586EE7581E0C}"/>
              </a:ext>
            </a:extLst>
          </p:cNvPr>
          <p:cNvSpPr/>
          <p:nvPr/>
        </p:nvSpPr>
        <p:spPr>
          <a:xfrm>
            <a:off x="5321808" y="2407334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50" dirty="0"/>
          </a:p>
        </p:txBody>
      </p:sp>
      <p:sp>
        <p:nvSpPr>
          <p:cNvPr id="106" name="Text 59">
            <a:extLst>
              <a:ext uri="{FF2B5EF4-FFF2-40B4-BE49-F238E27FC236}">
                <a16:creationId xmlns:a16="http://schemas.microsoft.com/office/drawing/2014/main" id="{745AD1C3-71F9-E9CA-F587-4339BF2799D9}"/>
              </a:ext>
            </a:extLst>
          </p:cNvPr>
          <p:cNvSpPr/>
          <p:nvPr/>
        </p:nvSpPr>
        <p:spPr>
          <a:xfrm>
            <a:off x="6199632" y="240733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R5–R9</a:t>
            </a:r>
            <a:endParaRPr lang="en-US" sz="1100" dirty="0"/>
          </a:p>
        </p:txBody>
      </p:sp>
      <p:sp>
        <p:nvSpPr>
          <p:cNvPr id="107" name="Shape 60">
            <a:extLst>
              <a:ext uri="{FF2B5EF4-FFF2-40B4-BE49-F238E27FC236}">
                <a16:creationId xmlns:a16="http://schemas.microsoft.com/office/drawing/2014/main" id="{2EBEA0B4-3AE2-BDAF-2F23-AAE589B28A85}"/>
              </a:ext>
            </a:extLst>
          </p:cNvPr>
          <p:cNvSpPr/>
          <p:nvPr/>
        </p:nvSpPr>
        <p:spPr>
          <a:xfrm>
            <a:off x="5312664" y="2928542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61">
            <a:extLst>
              <a:ext uri="{FF2B5EF4-FFF2-40B4-BE49-F238E27FC236}">
                <a16:creationId xmlns:a16="http://schemas.microsoft.com/office/drawing/2014/main" id="{89876700-CE98-5F54-44AA-E1E17B7AF81A}"/>
              </a:ext>
            </a:extLst>
          </p:cNvPr>
          <p:cNvSpPr/>
          <p:nvPr/>
        </p:nvSpPr>
        <p:spPr>
          <a:xfrm>
            <a:off x="5312664" y="2928542"/>
            <a:ext cx="822960" cy="43891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62">
            <a:extLst>
              <a:ext uri="{FF2B5EF4-FFF2-40B4-BE49-F238E27FC236}">
                <a16:creationId xmlns:a16="http://schemas.microsoft.com/office/drawing/2014/main" id="{8CDB16B7-FE15-4285-6828-0A94E42F9B37}"/>
              </a:ext>
            </a:extLst>
          </p:cNvPr>
          <p:cNvSpPr/>
          <p:nvPr/>
        </p:nvSpPr>
        <p:spPr>
          <a:xfrm>
            <a:off x="5321808" y="2928542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ISP/CDN</a:t>
            </a:r>
            <a:endParaRPr lang="en-US" sz="950" dirty="0"/>
          </a:p>
        </p:txBody>
      </p:sp>
      <p:sp>
        <p:nvSpPr>
          <p:cNvPr id="110" name="Text 63">
            <a:extLst>
              <a:ext uri="{FF2B5EF4-FFF2-40B4-BE49-F238E27FC236}">
                <a16:creationId xmlns:a16="http://schemas.microsoft.com/office/drawing/2014/main" id="{48CF683E-E423-8A19-5E6B-108DB2AB814B}"/>
              </a:ext>
            </a:extLst>
          </p:cNvPr>
          <p:cNvSpPr/>
          <p:nvPr/>
        </p:nvSpPr>
        <p:spPr>
          <a:xfrm>
            <a:off x="6199632" y="292854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R10–R13</a:t>
            </a:r>
            <a:endParaRPr lang="en-US" sz="1100" dirty="0"/>
          </a:p>
        </p:txBody>
      </p:sp>
      <p:sp>
        <p:nvSpPr>
          <p:cNvPr id="111" name="Shape 64">
            <a:extLst>
              <a:ext uri="{FF2B5EF4-FFF2-40B4-BE49-F238E27FC236}">
                <a16:creationId xmlns:a16="http://schemas.microsoft.com/office/drawing/2014/main" id="{DB4CCD4F-8046-5903-F3A9-B2B3152671D0}"/>
              </a:ext>
            </a:extLst>
          </p:cNvPr>
          <p:cNvSpPr/>
          <p:nvPr/>
        </p:nvSpPr>
        <p:spPr>
          <a:xfrm>
            <a:off x="5312664" y="344975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65">
            <a:extLst>
              <a:ext uri="{FF2B5EF4-FFF2-40B4-BE49-F238E27FC236}">
                <a16:creationId xmlns:a16="http://schemas.microsoft.com/office/drawing/2014/main" id="{E979F755-F7E0-2FF3-C176-FDBDE7C8BA0F}"/>
              </a:ext>
            </a:extLst>
          </p:cNvPr>
          <p:cNvSpPr/>
          <p:nvPr/>
        </p:nvSpPr>
        <p:spPr>
          <a:xfrm>
            <a:off x="5312664" y="3449750"/>
            <a:ext cx="822960" cy="438912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66">
            <a:extLst>
              <a:ext uri="{FF2B5EF4-FFF2-40B4-BE49-F238E27FC236}">
                <a16:creationId xmlns:a16="http://schemas.microsoft.com/office/drawing/2014/main" id="{756B8ACF-A160-7E85-0F5A-ADDF93BE83E7}"/>
              </a:ext>
            </a:extLst>
          </p:cNvPr>
          <p:cNvSpPr/>
          <p:nvPr/>
        </p:nvSpPr>
        <p:spPr>
          <a:xfrm>
            <a:off x="5321808" y="3449750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50" dirty="0"/>
          </a:p>
        </p:txBody>
      </p:sp>
      <p:sp>
        <p:nvSpPr>
          <p:cNvPr id="114" name="Text 67">
            <a:extLst>
              <a:ext uri="{FF2B5EF4-FFF2-40B4-BE49-F238E27FC236}">
                <a16:creationId xmlns:a16="http://schemas.microsoft.com/office/drawing/2014/main" id="{65B19291-59A9-2CC6-A4CD-2B967FD0113A}"/>
              </a:ext>
            </a:extLst>
          </p:cNvPr>
          <p:cNvSpPr/>
          <p:nvPr/>
        </p:nvSpPr>
        <p:spPr>
          <a:xfrm>
            <a:off x="6199632" y="344975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R14–R15</a:t>
            </a:r>
            <a:endParaRPr lang="en-US" sz="1100" dirty="0"/>
          </a:p>
        </p:txBody>
      </p:sp>
      <p:sp>
        <p:nvSpPr>
          <p:cNvPr id="115" name="Shape 68">
            <a:extLst>
              <a:ext uri="{FF2B5EF4-FFF2-40B4-BE49-F238E27FC236}">
                <a16:creationId xmlns:a16="http://schemas.microsoft.com/office/drawing/2014/main" id="{194BB0FC-5AA3-6152-3552-EF6CDBA2B74F}"/>
              </a:ext>
            </a:extLst>
          </p:cNvPr>
          <p:cNvSpPr/>
          <p:nvPr/>
        </p:nvSpPr>
        <p:spPr>
          <a:xfrm>
            <a:off x="5312664" y="3970958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69">
            <a:extLst>
              <a:ext uri="{FF2B5EF4-FFF2-40B4-BE49-F238E27FC236}">
                <a16:creationId xmlns:a16="http://schemas.microsoft.com/office/drawing/2014/main" id="{F6AF58EA-4C53-4335-2A6C-2841C7EE247D}"/>
              </a:ext>
            </a:extLst>
          </p:cNvPr>
          <p:cNvSpPr/>
          <p:nvPr/>
        </p:nvSpPr>
        <p:spPr>
          <a:xfrm>
            <a:off x="5312664" y="3970958"/>
            <a:ext cx="822960" cy="43891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70">
            <a:extLst>
              <a:ext uri="{FF2B5EF4-FFF2-40B4-BE49-F238E27FC236}">
                <a16:creationId xmlns:a16="http://schemas.microsoft.com/office/drawing/2014/main" id="{8684FA35-692B-78F3-3B73-1D3DBCBA7B45}"/>
              </a:ext>
            </a:extLst>
          </p:cNvPr>
          <p:cNvSpPr/>
          <p:nvPr/>
        </p:nvSpPr>
        <p:spPr>
          <a:xfrm>
            <a:off x="5321808" y="3970958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50" dirty="0"/>
          </a:p>
        </p:txBody>
      </p:sp>
      <p:sp>
        <p:nvSpPr>
          <p:cNvPr id="118" name="Text 71">
            <a:extLst>
              <a:ext uri="{FF2B5EF4-FFF2-40B4-BE49-F238E27FC236}">
                <a16:creationId xmlns:a16="http://schemas.microsoft.com/office/drawing/2014/main" id="{2E70AB91-480E-471E-FC9B-1650B4EEE3DE}"/>
              </a:ext>
            </a:extLst>
          </p:cNvPr>
          <p:cNvSpPr/>
          <p:nvPr/>
        </p:nvSpPr>
        <p:spPr>
          <a:xfrm>
            <a:off x="6199632" y="397095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R16–R19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E677D-CEB5-6784-A41C-579BB6FDC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>
            <a:extLst>
              <a:ext uri="{FF2B5EF4-FFF2-40B4-BE49-F238E27FC236}">
                <a16:creationId xmlns:a16="http://schemas.microsoft.com/office/drawing/2014/main" id="{0FFA34F8-4D45-2488-66B5-CBD08C4B8AA2}"/>
              </a:ext>
            </a:extLst>
          </p:cNvPr>
          <p:cNvSpPr/>
          <p:nvPr/>
        </p:nvSpPr>
        <p:spPr>
          <a:xfrm>
            <a:off x="396874" y="914400"/>
            <a:ext cx="8335645" cy="4021602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41518E1-6157-625B-5307-2A2F1DC23374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729310-F1C1-9788-F83C-5587A0BF0824}"/>
              </a:ext>
            </a:extLst>
          </p:cNvPr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Adjacency List Output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0FD5097-51AF-6A61-8CB9-479B564AAB4A}"/>
              </a:ext>
            </a:extLst>
          </p:cNvPr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2B9C2C-422B-16DB-D22C-26C3379A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45183"/>
          <a:stretch>
            <a:fillRect/>
          </a:stretch>
        </p:blipFill>
        <p:spPr>
          <a:xfrm>
            <a:off x="450852" y="1042035"/>
            <a:ext cx="8121647" cy="370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50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6860E-0E7B-B6DF-7CF0-3810763E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B451CB-C053-0DF9-26A8-B9F8A65B9DB1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D309EC-FC97-1879-A303-C358F5428B10}"/>
              </a:ext>
            </a:extLst>
          </p:cNvPr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BFS &amp; DFS Traversal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7C8310-5C72-7549-94EA-ECD9BE1B02AC}"/>
              </a:ext>
            </a:extLst>
          </p:cNvPr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7061E43-1DD2-BDFB-DFC2-B4CA9E7D031D}"/>
              </a:ext>
            </a:extLst>
          </p:cNvPr>
          <p:cNvSpPr/>
          <p:nvPr/>
        </p:nvSpPr>
        <p:spPr>
          <a:xfrm>
            <a:off x="4572000" y="858470"/>
            <a:ext cx="4160520" cy="4107026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C951B7AD-B820-2D79-8D92-AD11F98430F5}"/>
              </a:ext>
            </a:extLst>
          </p:cNvPr>
          <p:cNvSpPr/>
          <p:nvPr/>
        </p:nvSpPr>
        <p:spPr>
          <a:xfrm>
            <a:off x="411480" y="1754963"/>
            <a:ext cx="4069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89B8DCD6-2621-C6D6-0AEC-0F90C855301F}"/>
              </a:ext>
            </a:extLst>
          </p:cNvPr>
          <p:cNvSpPr/>
          <p:nvPr/>
        </p:nvSpPr>
        <p:spPr>
          <a:xfrm>
            <a:off x="411480" y="1754963"/>
            <a:ext cx="40690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7EFE255C-EB9D-77D7-E907-79F47FF945F9}"/>
              </a:ext>
            </a:extLst>
          </p:cNvPr>
          <p:cNvSpPr/>
          <p:nvPr/>
        </p:nvSpPr>
        <p:spPr>
          <a:xfrm>
            <a:off x="502920" y="1773251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Breadth-First Search</a:t>
            </a:r>
            <a:endParaRPr lang="en-US" sz="13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E04E8AF6-3DFE-43B8-8C48-0A395913E983}"/>
              </a:ext>
            </a:extLst>
          </p:cNvPr>
          <p:cNvSpPr/>
          <p:nvPr/>
        </p:nvSpPr>
        <p:spPr>
          <a:xfrm>
            <a:off x="548640" y="2166443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a FIFO queue
• Explores level by level
• Finds shortest hop count
</a:t>
            </a: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 </a:t>
            </a: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
</a:t>
            </a: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
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Network discovery, reachability analysis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E0CEAC-66C3-2CFD-0ACF-85446CAA2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576" y="858469"/>
            <a:ext cx="4070987" cy="4053927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F03BA4A9-B506-98EC-E82C-40A391D2FC91}"/>
              </a:ext>
            </a:extLst>
          </p:cNvPr>
          <p:cNvSpPr/>
          <p:nvPr/>
        </p:nvSpPr>
        <p:spPr>
          <a:xfrm>
            <a:off x="7219950" y="2664791"/>
            <a:ext cx="1421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Terminal Output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99081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2D583-77FE-4AE5-A219-0290DBE1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19547C-254E-CA4E-86E2-3934DB2E9A37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1FA607-49D4-D1F3-4039-3A01EEA0AF95}"/>
              </a:ext>
            </a:extLst>
          </p:cNvPr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BFS &amp; DFS Traversal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BCAF99-0D54-1688-1C87-EC62B5030763}"/>
              </a:ext>
            </a:extLst>
          </p:cNvPr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A90E5FD-B7B9-B1F4-1154-1D43CB129D13}"/>
              </a:ext>
            </a:extLst>
          </p:cNvPr>
          <p:cNvSpPr/>
          <p:nvPr/>
        </p:nvSpPr>
        <p:spPr>
          <a:xfrm>
            <a:off x="4572000" y="858470"/>
            <a:ext cx="4160520" cy="4107026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A18DD09-5E80-6476-0F73-AF315275C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37" y="904875"/>
            <a:ext cx="4090987" cy="4014788"/>
          </a:xfrm>
          <a:prstGeom prst="rect">
            <a:avLst/>
          </a:prstGeom>
        </p:spPr>
      </p:pic>
      <p:sp>
        <p:nvSpPr>
          <p:cNvPr id="11" name="Shape 7">
            <a:extLst>
              <a:ext uri="{FF2B5EF4-FFF2-40B4-BE49-F238E27FC236}">
                <a16:creationId xmlns:a16="http://schemas.microsoft.com/office/drawing/2014/main" id="{2CD2D866-6B74-1ECB-3C94-3CDBADB70123}"/>
              </a:ext>
            </a:extLst>
          </p:cNvPr>
          <p:cNvSpPr/>
          <p:nvPr/>
        </p:nvSpPr>
        <p:spPr>
          <a:xfrm>
            <a:off x="411480" y="1754963"/>
            <a:ext cx="4069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DBB9998-29B6-FAE0-4AF7-D37011CBA636}"/>
              </a:ext>
            </a:extLst>
          </p:cNvPr>
          <p:cNvSpPr/>
          <p:nvPr/>
        </p:nvSpPr>
        <p:spPr>
          <a:xfrm>
            <a:off x="411480" y="1754963"/>
            <a:ext cx="406908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A03EF65-DCCA-1871-39FF-29DA4D1D2B0A}"/>
              </a:ext>
            </a:extLst>
          </p:cNvPr>
          <p:cNvSpPr/>
          <p:nvPr/>
        </p:nvSpPr>
        <p:spPr>
          <a:xfrm>
            <a:off x="502920" y="1773251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Depth-First Search</a:t>
            </a:r>
            <a:endParaRPr lang="en-US" sz="13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D49D1F35-D17D-FA61-AA1F-970B91759CC6}"/>
              </a:ext>
            </a:extLst>
          </p:cNvPr>
          <p:cNvSpPr/>
          <p:nvPr/>
        </p:nvSpPr>
        <p:spPr>
          <a:xfrm>
            <a:off x="502920" y="2166443"/>
            <a:ext cx="3886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recursion (call stack)
• Explores deep paths first
• Detects cycles
</a:t>
            </a: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 </a:t>
            </a: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
</a:t>
            </a: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
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Cycle detection, topological ordering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9CDDA97-542C-D0B2-0522-9299FA362A3F}"/>
              </a:ext>
            </a:extLst>
          </p:cNvPr>
          <p:cNvSpPr/>
          <p:nvPr/>
        </p:nvSpPr>
        <p:spPr>
          <a:xfrm>
            <a:off x="7219950" y="2664791"/>
            <a:ext cx="1421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Terminal Output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318406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E9489-E8EA-02BC-C44D-2D44D2A1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36">
            <a:extLst>
              <a:ext uri="{FF2B5EF4-FFF2-40B4-BE49-F238E27FC236}">
                <a16:creationId xmlns:a16="http://schemas.microsoft.com/office/drawing/2014/main" id="{513265F8-BEE8-D83C-856B-2A98270B1FDB}"/>
              </a:ext>
            </a:extLst>
          </p:cNvPr>
          <p:cNvSpPr/>
          <p:nvPr/>
        </p:nvSpPr>
        <p:spPr>
          <a:xfrm>
            <a:off x="320040" y="914400"/>
            <a:ext cx="8503920" cy="3931920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8E84AE0-88BE-C22B-A481-6E8F62C51AD1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9F15460C-A407-E0E0-385D-0106987705ED}"/>
              </a:ext>
            </a:extLst>
          </p:cNvPr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Dijkstra's Shortest Path</a:t>
            </a:r>
            <a:endParaRPr lang="en-US" sz="2800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CBAFD916-FA94-7BA5-653F-9F91DC9EC01B}"/>
              </a:ext>
            </a:extLst>
          </p:cNvPr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E12F356-5C74-A6BB-D526-7DFE862E9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588" y="1021080"/>
            <a:ext cx="3509995" cy="3718560"/>
          </a:xfrm>
          <a:prstGeom prst="rect">
            <a:avLst/>
          </a:prstGeom>
        </p:spPr>
      </p:pic>
      <p:sp>
        <p:nvSpPr>
          <p:cNvPr id="3" name="Shape 8">
            <a:extLst>
              <a:ext uri="{FF2B5EF4-FFF2-40B4-BE49-F238E27FC236}">
                <a16:creationId xmlns:a16="http://schemas.microsoft.com/office/drawing/2014/main" id="{AAFC3BC5-1EE9-7131-F55E-7A2ECF218490}"/>
              </a:ext>
            </a:extLst>
          </p:cNvPr>
          <p:cNvSpPr/>
          <p:nvPr/>
        </p:nvSpPr>
        <p:spPr>
          <a:xfrm>
            <a:off x="411480" y="1021080"/>
            <a:ext cx="4612958" cy="1807844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FD2AABFC-CF5B-C84A-0E6D-94DEF6C09E73}"/>
              </a:ext>
            </a:extLst>
          </p:cNvPr>
          <p:cNvSpPr/>
          <p:nvPr/>
        </p:nvSpPr>
        <p:spPr>
          <a:xfrm>
            <a:off x="411480" y="2933700"/>
            <a:ext cx="4612958" cy="1807844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9"/>
          <p:cNvSpPr/>
          <p:nvPr/>
        </p:nvSpPr>
        <p:spPr>
          <a:xfrm>
            <a:off x="411479" y="1021080"/>
            <a:ext cx="4612957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0"/>
          <p:cNvSpPr/>
          <p:nvPr/>
        </p:nvSpPr>
        <p:spPr>
          <a:xfrm>
            <a:off x="502919" y="1039368"/>
            <a:ext cx="440563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Paths from R0</a:t>
            </a:r>
            <a:endParaRPr lang="en-US" sz="1300" dirty="0"/>
          </a:p>
        </p:txBody>
      </p:sp>
      <p:sp>
        <p:nvSpPr>
          <p:cNvPr id="9" name="Shape 11"/>
          <p:cNvSpPr/>
          <p:nvPr/>
        </p:nvSpPr>
        <p:spPr>
          <a:xfrm>
            <a:off x="420741" y="1394841"/>
            <a:ext cx="4598932" cy="1482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4"/>
          <p:cNvSpPr/>
          <p:nvPr/>
        </p:nvSpPr>
        <p:spPr>
          <a:xfrm>
            <a:off x="657717" y="2351532"/>
            <a:ext cx="3977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26"/>
          <p:cNvSpPr/>
          <p:nvPr/>
        </p:nvSpPr>
        <p:spPr>
          <a:xfrm>
            <a:off x="657717" y="3375660"/>
            <a:ext cx="3977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0F04EDF-167C-B03F-EC0A-2C582EE9162B}"/>
              </a:ext>
            </a:extLst>
          </p:cNvPr>
          <p:cNvSpPr/>
          <p:nvPr/>
        </p:nvSpPr>
        <p:spPr>
          <a:xfrm>
            <a:off x="425504" y="1552193"/>
            <a:ext cx="4598932" cy="1482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33589078-E432-A9C4-F0B7-9832C78DA075}"/>
              </a:ext>
            </a:extLst>
          </p:cNvPr>
          <p:cNvSpPr/>
          <p:nvPr/>
        </p:nvSpPr>
        <p:spPr>
          <a:xfrm>
            <a:off x="425506" y="1713929"/>
            <a:ext cx="4598932" cy="1482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F024D1B9-FFAA-F07E-B9EF-8D070A9AF850}"/>
              </a:ext>
            </a:extLst>
          </p:cNvPr>
          <p:cNvSpPr/>
          <p:nvPr/>
        </p:nvSpPr>
        <p:spPr>
          <a:xfrm>
            <a:off x="425506" y="1871281"/>
            <a:ext cx="4598932" cy="1482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F53F0399-F4EE-53D0-8ABF-584979206898}"/>
              </a:ext>
            </a:extLst>
          </p:cNvPr>
          <p:cNvSpPr/>
          <p:nvPr/>
        </p:nvSpPr>
        <p:spPr>
          <a:xfrm>
            <a:off x="425506" y="2027491"/>
            <a:ext cx="4598932" cy="1482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F78FF6B4-0C3A-93BA-A320-5F2BAB921865}"/>
              </a:ext>
            </a:extLst>
          </p:cNvPr>
          <p:cNvSpPr/>
          <p:nvPr/>
        </p:nvSpPr>
        <p:spPr>
          <a:xfrm>
            <a:off x="425506" y="2179891"/>
            <a:ext cx="4598932" cy="1482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839F6E77-91F5-403B-953B-219B32E5C31B}"/>
              </a:ext>
            </a:extLst>
          </p:cNvPr>
          <p:cNvSpPr/>
          <p:nvPr/>
        </p:nvSpPr>
        <p:spPr>
          <a:xfrm>
            <a:off x="425506" y="2336673"/>
            <a:ext cx="4598932" cy="1482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21249279-41A5-BEB6-C310-5599E79114EF}"/>
              </a:ext>
            </a:extLst>
          </p:cNvPr>
          <p:cNvSpPr/>
          <p:nvPr/>
        </p:nvSpPr>
        <p:spPr>
          <a:xfrm>
            <a:off x="425506" y="2494789"/>
            <a:ext cx="4598932" cy="1482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627587E2-8287-F8DE-EB2A-F3CCF8627AC7}"/>
              </a:ext>
            </a:extLst>
          </p:cNvPr>
          <p:cNvSpPr/>
          <p:nvPr/>
        </p:nvSpPr>
        <p:spPr>
          <a:xfrm>
            <a:off x="425506" y="2654427"/>
            <a:ext cx="4598932" cy="1482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35">
            <a:extLst>
              <a:ext uri="{FF2B5EF4-FFF2-40B4-BE49-F238E27FC236}">
                <a16:creationId xmlns:a16="http://schemas.microsoft.com/office/drawing/2014/main" id="{08B03E4B-6E34-F4AC-C151-566FCC2ADA1B}"/>
              </a:ext>
            </a:extLst>
          </p:cNvPr>
          <p:cNvSpPr/>
          <p:nvPr/>
        </p:nvSpPr>
        <p:spPr>
          <a:xfrm>
            <a:off x="657717" y="2611753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R0→R3→R7→R11→R16→R19</a:t>
            </a:r>
            <a:endParaRPr lang="en-US" sz="950" b="1" dirty="0">
              <a:solidFill>
                <a:schemeClr val="bg1"/>
              </a:solidFill>
            </a:endParaRPr>
          </a:p>
        </p:txBody>
      </p:sp>
      <p:sp>
        <p:nvSpPr>
          <p:cNvPr id="28" name="Text 12"/>
          <p:cNvSpPr/>
          <p:nvPr/>
        </p:nvSpPr>
        <p:spPr>
          <a:xfrm>
            <a:off x="1178503" y="13541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R1</a:t>
            </a:r>
            <a:endParaRPr lang="en-US" sz="1100" dirty="0"/>
          </a:p>
        </p:txBody>
      </p:sp>
      <p:sp>
        <p:nvSpPr>
          <p:cNvPr id="29" name="Text 15"/>
          <p:cNvSpPr/>
          <p:nvPr/>
        </p:nvSpPr>
        <p:spPr>
          <a:xfrm>
            <a:off x="1173738" y="1508731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R2</a:t>
            </a:r>
            <a:endParaRPr lang="en-US" sz="1100" dirty="0"/>
          </a:p>
        </p:txBody>
      </p:sp>
      <p:sp>
        <p:nvSpPr>
          <p:cNvPr id="30" name="Text 18"/>
          <p:cNvSpPr/>
          <p:nvPr/>
        </p:nvSpPr>
        <p:spPr>
          <a:xfrm>
            <a:off x="1173738" y="1669035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R4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1173738" y="182362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R7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173738" y="197850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R9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173738" y="2134429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R11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173738" y="2292443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R16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73738" y="2448845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R19</a:t>
            </a:r>
            <a:endParaRPr lang="en-US" sz="1100" dirty="0"/>
          </a:p>
        </p:txBody>
      </p:sp>
      <p:sp>
        <p:nvSpPr>
          <p:cNvPr id="36" name="Text 13"/>
          <p:cNvSpPr/>
          <p:nvPr/>
        </p:nvSpPr>
        <p:spPr>
          <a:xfrm>
            <a:off x="2266029" y="135912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ms</a:t>
            </a:r>
            <a:endParaRPr lang="en-US" sz="1100" dirty="0"/>
          </a:p>
        </p:txBody>
      </p:sp>
      <p:sp>
        <p:nvSpPr>
          <p:cNvPr id="37" name="Text 16"/>
          <p:cNvSpPr/>
          <p:nvPr/>
        </p:nvSpPr>
        <p:spPr>
          <a:xfrm>
            <a:off x="2266029" y="1524761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ms</a:t>
            </a:r>
            <a:endParaRPr lang="en-US" sz="1100" dirty="0"/>
          </a:p>
        </p:txBody>
      </p:sp>
      <p:sp>
        <p:nvSpPr>
          <p:cNvPr id="38" name="Text 19"/>
          <p:cNvSpPr/>
          <p:nvPr/>
        </p:nvSpPr>
        <p:spPr>
          <a:xfrm>
            <a:off x="2266492" y="167363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ms</a:t>
            </a:r>
            <a:endParaRPr lang="en-US" sz="1100" dirty="0"/>
          </a:p>
        </p:txBody>
      </p:sp>
      <p:sp>
        <p:nvSpPr>
          <p:cNvPr id="39" name="Text 22"/>
          <p:cNvSpPr/>
          <p:nvPr/>
        </p:nvSpPr>
        <p:spPr>
          <a:xfrm>
            <a:off x="2261727" y="18244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ms</a:t>
            </a:r>
            <a:endParaRPr lang="en-US" sz="1100" dirty="0"/>
          </a:p>
        </p:txBody>
      </p:sp>
      <p:sp>
        <p:nvSpPr>
          <p:cNvPr id="40" name="Text 25"/>
          <p:cNvSpPr/>
          <p:nvPr/>
        </p:nvSpPr>
        <p:spPr>
          <a:xfrm>
            <a:off x="2257445" y="1992155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ms</a:t>
            </a:r>
            <a:endParaRPr lang="en-US" sz="1100" dirty="0"/>
          </a:p>
        </p:txBody>
      </p:sp>
      <p:sp>
        <p:nvSpPr>
          <p:cNvPr id="41" name="Text 28"/>
          <p:cNvSpPr/>
          <p:nvPr/>
        </p:nvSpPr>
        <p:spPr>
          <a:xfrm>
            <a:off x="2250538" y="2139375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ms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2257445" y="2292443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ms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2442938" y="2451765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ms ★</a:t>
            </a:r>
            <a:endParaRPr lang="en-US" sz="1100" dirty="0"/>
          </a:p>
        </p:txBody>
      </p:sp>
      <p:sp>
        <p:nvSpPr>
          <p:cNvPr id="44" name="Shape 4"/>
          <p:cNvSpPr/>
          <p:nvPr/>
        </p:nvSpPr>
        <p:spPr>
          <a:xfrm>
            <a:off x="420741" y="2945892"/>
            <a:ext cx="459893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5"/>
          <p:cNvSpPr/>
          <p:nvPr/>
        </p:nvSpPr>
        <p:spPr>
          <a:xfrm>
            <a:off x="512180" y="2964180"/>
            <a:ext cx="4394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85633B40-4A43-F99E-BFB9-02C08E23D96F}"/>
              </a:ext>
            </a:extLst>
          </p:cNvPr>
          <p:cNvSpPr/>
          <p:nvPr/>
        </p:nvSpPr>
        <p:spPr>
          <a:xfrm>
            <a:off x="406714" y="3305556"/>
            <a:ext cx="2537923" cy="1434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Initialize all distances to ∞, source to 0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Insert source into min-heap (priority queue)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Extract vertex with minimum distance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Relax all outgoing edges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Repeat until queue is empty</a:t>
            </a:r>
            <a:endParaRPr lang="en-US" sz="1050" dirty="0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CCAA3133-420A-8073-EE1A-CADAF3A3CFB7}"/>
              </a:ext>
            </a:extLst>
          </p:cNvPr>
          <p:cNvSpPr/>
          <p:nvPr/>
        </p:nvSpPr>
        <p:spPr>
          <a:xfrm>
            <a:off x="2825118" y="3310068"/>
            <a:ext cx="2204086" cy="14444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     </a:t>
            </a: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 + E) log V)
</a:t>
            </a: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    </a:t>
            </a: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
</a:t>
            </a: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</a:t>
            </a: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log V) — sparse graph
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    </a:t>
            </a: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 — dense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Does NOT support negative edge weights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0979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— Bellman-Ford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56588"/>
              </p:ext>
            </p:extLst>
          </p:nvPr>
        </p:nvGraphicFramePr>
        <p:xfrm>
          <a:off x="320041" y="914400"/>
          <a:ext cx="4114801" cy="3073170"/>
        </p:xfrm>
        <a:graphic>
          <a:graphicData uri="http://schemas.openxmlformats.org/drawingml/2006/table">
            <a:tbl>
              <a:tblPr/>
              <a:tblGrid>
                <a:gridCol w="141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weights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supported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Supported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Detects negative cycles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× 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(sparse)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(dense)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 weights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00703"/>
            <a:ext cx="4114800" cy="871347"/>
          </a:xfrm>
          <a:prstGeom prst="rect">
            <a:avLst/>
          </a:prstGeom>
          <a:solidFill>
            <a:srgbClr val="041428"/>
          </a:solidFill>
          <a:ln w="12700">
            <a:solidFill>
              <a:srgbClr val="00AC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4100703"/>
            <a:ext cx="45719" cy="871347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411480" y="4100703"/>
            <a:ext cx="959168" cy="307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4427669"/>
            <a:ext cx="3807143" cy="410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Bellman-Ford when your network may have negative-cost links or when you need to detect routing loops (negative cycles). Otherwise prefer Dijkstra for speed.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1" y="914400"/>
            <a:ext cx="4114800" cy="4057650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91249B-46F1-2104-1DBC-22B7E37E7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248" y="946056"/>
            <a:ext cx="4069080" cy="398618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AC19F03C-D31B-B162-98FE-F67EB4E1265A}"/>
              </a:ext>
            </a:extLst>
          </p:cNvPr>
          <p:cNvSpPr/>
          <p:nvPr/>
        </p:nvSpPr>
        <p:spPr>
          <a:xfrm>
            <a:off x="7005638" y="2664791"/>
            <a:ext cx="16354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- Ford Terminal Output</a:t>
            </a:r>
            <a:endParaRPr lang="en-US" sz="8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855F6-76FE-C10A-E9AF-41AC9A2D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3B3835-65A0-36D1-EA4E-A355776749BD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A32B2A-BD09-0B3E-BFD5-F407F3851E57}"/>
              </a:ext>
            </a:extLst>
          </p:cNvPr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— Kruskal's MST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E4D9F2-F01F-4C34-4C26-3DAE4A0C5C5A}"/>
              </a:ext>
            </a:extLst>
          </p:cNvPr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8EC9CE9-408D-63D8-F261-80D93751A167}"/>
              </a:ext>
            </a:extLst>
          </p:cNvPr>
          <p:cNvSpPr/>
          <p:nvPr/>
        </p:nvSpPr>
        <p:spPr>
          <a:xfrm>
            <a:off x="4661384" y="904662"/>
            <a:ext cx="4071136" cy="4100434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0CD52602-837A-F1A4-C81D-467F3571C4D0}"/>
              </a:ext>
            </a:extLst>
          </p:cNvPr>
          <p:cNvSpPr/>
          <p:nvPr/>
        </p:nvSpPr>
        <p:spPr>
          <a:xfrm>
            <a:off x="411480" y="2707025"/>
            <a:ext cx="4114800" cy="1751167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93835714-B249-60DC-3F10-17BE2EADDAE0}"/>
              </a:ext>
            </a:extLst>
          </p:cNvPr>
          <p:cNvSpPr/>
          <p:nvPr/>
        </p:nvSpPr>
        <p:spPr>
          <a:xfrm>
            <a:off x="410450" y="4525036"/>
            <a:ext cx="41148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3B14E140-6801-7AED-70EA-0AB970197BB8}"/>
              </a:ext>
            </a:extLst>
          </p:cNvPr>
          <p:cNvSpPr/>
          <p:nvPr/>
        </p:nvSpPr>
        <p:spPr>
          <a:xfrm>
            <a:off x="568565" y="4539277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 </a:t>
            </a: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E)   </a:t>
            </a: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</a:t>
            </a:r>
            <a:endParaRPr lang="en-US" sz="12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8AE55A4A-564C-CF60-9705-B4FA77F92BE9}"/>
              </a:ext>
            </a:extLst>
          </p:cNvPr>
          <p:cNvSpPr/>
          <p:nvPr/>
        </p:nvSpPr>
        <p:spPr>
          <a:xfrm>
            <a:off x="411480" y="2723173"/>
            <a:ext cx="4114800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3A85814-464A-5D25-CB83-ADB0D655DA08}"/>
              </a:ext>
            </a:extLst>
          </p:cNvPr>
          <p:cNvSpPr/>
          <p:nvPr/>
        </p:nvSpPr>
        <p:spPr>
          <a:xfrm>
            <a:off x="502919" y="2741461"/>
            <a:ext cx="392986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Use Case</a:t>
            </a:r>
            <a:endParaRPr lang="en-US" sz="13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A0B7B5AB-B54F-0D8B-EAA7-40C920B88D9C}"/>
              </a:ext>
            </a:extLst>
          </p:cNvPr>
          <p:cNvSpPr/>
          <p:nvPr/>
        </p:nvSpPr>
        <p:spPr>
          <a:xfrm>
            <a:off x="410451" y="3079665"/>
            <a:ext cx="4114800" cy="1363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gives the </a:t>
            </a:r>
            <a:r>
              <a:rPr lang="en-US" sz="10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backbone</a:t>
            </a: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connect all routers with no redundant links.
</a:t>
            </a: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applications:
</a:t>
            </a: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Fiber optic cable layout
• Network infrastructure design
• Cluster network minimization
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Applied to undirected version of the router graph.</a:t>
            </a:r>
            <a:endParaRPr lang="en-US" sz="105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26D2EE07-FC6E-7E6E-1C0B-B5CF1B0D8947}"/>
              </a:ext>
            </a:extLst>
          </p:cNvPr>
          <p:cNvSpPr/>
          <p:nvPr/>
        </p:nvSpPr>
        <p:spPr>
          <a:xfrm>
            <a:off x="410450" y="904662"/>
            <a:ext cx="4114800" cy="1751167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EB55142F-EB0B-A008-1AC6-655A46FC62C1}"/>
              </a:ext>
            </a:extLst>
          </p:cNvPr>
          <p:cNvSpPr/>
          <p:nvPr/>
        </p:nvSpPr>
        <p:spPr>
          <a:xfrm>
            <a:off x="410450" y="905256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F29349CF-9F8F-2132-EF78-838E6AF9C005}"/>
              </a:ext>
            </a:extLst>
          </p:cNvPr>
          <p:cNvSpPr/>
          <p:nvPr/>
        </p:nvSpPr>
        <p:spPr>
          <a:xfrm>
            <a:off x="501890" y="9235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Steps</a:t>
            </a:r>
            <a:endParaRPr lang="en-US" sz="13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FD83F007-B098-E3F7-5985-A68684847774}"/>
              </a:ext>
            </a:extLst>
          </p:cNvPr>
          <p:cNvSpPr/>
          <p:nvPr/>
        </p:nvSpPr>
        <p:spPr>
          <a:xfrm>
            <a:off x="410450" y="1268876"/>
            <a:ext cx="4114800" cy="1386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Sort all edges by weight (ascending)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Initialize Union-Find (DSU)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For each edge (u, v, w):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If find(u) ≠ find(v):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Add to MST, union(u, v)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Stop when MST has V−1 edges</a:t>
            </a:r>
            <a:endParaRPr lang="en-US" sz="10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1055BB8-2C93-2260-C709-76046BCC3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364" y="923543"/>
            <a:ext cx="3998673" cy="4063393"/>
          </a:xfrm>
          <a:prstGeom prst="rect">
            <a:avLst/>
          </a:prstGeom>
        </p:spPr>
      </p:pic>
      <p:sp>
        <p:nvSpPr>
          <p:cNvPr id="36" name="Text 13">
            <a:extLst>
              <a:ext uri="{FF2B5EF4-FFF2-40B4-BE49-F238E27FC236}">
                <a16:creationId xmlns:a16="http://schemas.microsoft.com/office/drawing/2014/main" id="{AD69CF2C-64F1-23A5-C877-2643C5D3F005}"/>
              </a:ext>
            </a:extLst>
          </p:cNvPr>
          <p:cNvSpPr/>
          <p:nvPr/>
        </p:nvSpPr>
        <p:spPr>
          <a:xfrm>
            <a:off x="6915150" y="2664791"/>
            <a:ext cx="17259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Kruskal’s MST Terminal Output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973217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07592"/>
            <a:ext cx="8503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441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344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344168"/>
            <a:ext cx="543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53881" y="1344168"/>
            <a:ext cx="7515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13481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00784"/>
            <a:ext cx="8503920" cy="475488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700784"/>
            <a:ext cx="54864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179222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64792" y="179222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76472" y="179222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1367" y="1792224"/>
            <a:ext cx="13765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 - tree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45034" y="1786318"/>
            <a:ext cx="1542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dense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203704"/>
            <a:ext cx="8503920" cy="475488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203704"/>
            <a:ext cx="54864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229514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64792" y="229514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76472" y="229514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1368" y="2295144"/>
            <a:ext cx="1376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 - tree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45034" y="2289238"/>
            <a:ext cx="1542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dense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706624"/>
            <a:ext cx="8503920" cy="475488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706624"/>
            <a:ext cx="54864" cy="4754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3192" y="27980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64792" y="279806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 log V)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76472" y="27980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1367" y="2798064"/>
            <a:ext cx="15861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log V) -sparse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45034" y="279215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O((V+E)logV)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209544"/>
            <a:ext cx="8503920" cy="475488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" y="3209544"/>
            <a:ext cx="54864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" y="330098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764792" y="330098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× 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76472" y="330098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1368" y="3300984"/>
            <a:ext cx="1533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O(E) – early stop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45034" y="329507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× 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712464"/>
            <a:ext cx="8503920" cy="475488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" y="3712464"/>
            <a:ext cx="54864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3192" y="38039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64792" y="380390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E)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76472" y="38039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1367" y="3803904"/>
            <a:ext cx="177184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E) - sparse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45034" y="3797998"/>
            <a:ext cx="1708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E)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dense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8482"/>
            <a:ext cx="85039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3591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83591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Sparse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83591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83591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Sparse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83591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Dense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174242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174242"/>
            <a:ext cx="54864" cy="39319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24739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124739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0.561 µs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24739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0.231 µs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124739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0.260 µs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24739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1.644 µs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594866"/>
            <a:ext cx="8503920" cy="393192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1594866"/>
            <a:ext cx="54864" cy="39319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166801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166801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0.250 µs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166801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0.180 µs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66801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0.361 µs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166801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1.623 µs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015490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015490"/>
            <a:ext cx="54864" cy="3931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08864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208864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0.461 µs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08864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0.471 µs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208864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1.112 µs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208864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3.317 µs</a:t>
            </a:r>
            <a:endParaRPr lang="en-US" sz="1100" dirty="0">
              <a:solidFill>
                <a:srgbClr val="1A237E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" y="2436114"/>
            <a:ext cx="8503920" cy="393192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" y="2436114"/>
            <a:ext cx="54864" cy="39319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250926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250926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0.170 µs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250926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0.140 µs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250926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0.611 µs</a:t>
            </a:r>
            <a:endParaRPr lang="en-US" sz="1100" dirty="0">
              <a:solidFill>
                <a:srgbClr val="1A237E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7132320" y="250926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1.644 µs</a:t>
            </a:r>
            <a:endParaRPr lang="en-US" sz="1100" dirty="0">
              <a:solidFill>
                <a:srgbClr val="1A237E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0040" y="2856738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" y="2856738"/>
            <a:ext cx="54864" cy="3931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292989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331720" y="292989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0.541 µs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292989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1.172 µs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32120" y="292989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2.194 µs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292989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50.466 µs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323081"/>
            <a:ext cx="3281172" cy="1797367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0040" y="3323082"/>
            <a:ext cx="54864" cy="179736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3358135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38912" y="3441192"/>
            <a:ext cx="3098292" cy="19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BFS/DFS fastest — O(V+E) linear, consistent across densities</a:t>
            </a:r>
          </a:p>
          <a:p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Kruskal 50.466µs on large dense vs 0.541µs small sparse — O(E log E) sorting dominates</a:t>
            </a:r>
          </a:p>
          <a:p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 more efficient than Bellman-Ford on all graph sizes</a:t>
            </a:r>
          </a:p>
          <a:p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Bellman-Ford &amp; BFS identical on large dense (1.644µs)</a:t>
            </a:r>
          </a:p>
          <a:p>
            <a:endParaRPr lang="en-US" sz="1100" dirty="0">
              <a:solidFill>
                <a:srgbClr val="1A237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4A55ADD-4C6D-0A9E-D92C-B1E96B43D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508" y="3323080"/>
            <a:ext cx="5140452" cy="179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C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69080" cy="32918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41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Algorithm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69080" cy="32918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941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Bellman-Ford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06908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406908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5877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406908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4069080" cy="32918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5877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655439"/>
            <a:ext cx="8503920" cy="313182"/>
          </a:xfrm>
          <a:prstGeom prst="rect">
            <a:avLst/>
          </a:prstGeom>
          <a:solidFill>
            <a:srgbClr val="1A0A0A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655439"/>
            <a:ext cx="64008" cy="31318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2044" y="467944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9847" y="4574286"/>
            <a:ext cx="74266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assumes undirected graph interpretation. The directed router graph is converted to undirected for MST computation.</a:t>
            </a:r>
            <a:endParaRPr lang="en-US" sz="11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B546960-6DCE-B802-CD61-8F82AF6BC463}"/>
              </a:ext>
            </a:extLst>
          </p:cNvPr>
          <p:cNvSpPr/>
          <p:nvPr/>
        </p:nvSpPr>
        <p:spPr>
          <a:xfrm>
            <a:off x="457201" y="138988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for shortest path — optimal for non-negative weights at O((V+E) log V). Confirmed by experimental data. Used in real protocols: OSPF, IS-IS, GPS navigation.</a:t>
            </a:r>
            <a:endParaRPr lang="en-US" sz="10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1B6488A8-1E84-13E7-441B-5750A7CDADD8}"/>
              </a:ext>
            </a:extLst>
          </p:cNvPr>
          <p:cNvSpPr/>
          <p:nvPr/>
        </p:nvSpPr>
        <p:spPr>
          <a:xfrm>
            <a:off x="457201" y="3078099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BFS: network discovery, reachability, hop-count minimization.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DFS: topology discovery, cycle detection, topological sorting, strongly connected components (Tarjan's, Kosaraju's).</a:t>
            </a:r>
            <a:endParaRPr lang="en-US" sz="10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947C529-739E-3439-59AC-2FCAA812BEAC}"/>
              </a:ext>
            </a:extLst>
          </p:cNvPr>
          <p:cNvSpPr/>
          <p:nvPr/>
        </p:nvSpPr>
        <p:spPr>
          <a:xfrm>
            <a:off x="4773168" y="1387602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when negative edge weights exist (e.g., currency arbitrage, cost models with subsidies). Only algorithm that detects negative-weight cycles.</a:t>
            </a:r>
            <a:endParaRPr lang="en-US" sz="105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5A2F18EC-27F7-6283-3580-F4CE4CB98E5A}"/>
              </a:ext>
            </a:extLst>
          </p:cNvPr>
          <p:cNvSpPr/>
          <p:nvPr/>
        </p:nvSpPr>
        <p:spPr>
          <a:xfrm>
            <a:off x="4773168" y="3074670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for minimum infrastructure cost. MST = 19 edges, total weight 171ms. Practical for fiber optic layout, cluster network minimization, backbone design.</a:t>
            </a:r>
            <a:endParaRPr lang="en-US" sz="1050" dirty="0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4026CF98-C242-91B6-322E-1C458A0BBD35}"/>
              </a:ext>
            </a:extLst>
          </p:cNvPr>
          <p:cNvSpPr/>
          <p:nvPr/>
        </p:nvSpPr>
        <p:spPr>
          <a:xfrm>
            <a:off x="320040" y="4229100"/>
            <a:ext cx="8503920" cy="313182"/>
          </a:xfrm>
          <a:prstGeom prst="rect">
            <a:avLst/>
          </a:prstGeom>
          <a:solidFill>
            <a:srgbClr val="013A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16B48B81-61C2-49C5-5BB9-56D3B3D4F96C}"/>
              </a:ext>
            </a:extLst>
          </p:cNvPr>
          <p:cNvSpPr/>
          <p:nvPr/>
        </p:nvSpPr>
        <p:spPr>
          <a:xfrm>
            <a:off x="320040" y="4229100"/>
            <a:ext cx="64008" cy="31318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53C84A62-7EED-4361-9814-0C44166F9257}"/>
              </a:ext>
            </a:extLst>
          </p:cNvPr>
          <p:cNvSpPr/>
          <p:nvPr/>
        </p:nvSpPr>
        <p:spPr>
          <a:xfrm>
            <a:off x="352044" y="425157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100" dirty="0">
              <a:solidFill>
                <a:srgbClr val="00B4D8"/>
              </a:solidFill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FAA2F5B2-1FB9-8098-DE4D-BDED68C0D4B5}"/>
              </a:ext>
            </a:extLst>
          </p:cNvPr>
          <p:cNvSpPr/>
          <p:nvPr/>
        </p:nvSpPr>
        <p:spPr>
          <a:xfrm>
            <a:off x="1106043" y="4157663"/>
            <a:ext cx="77179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Dijkstra &amp; Bellman-Ford produced identical shortest paths: </a:t>
            </a: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R0→R19: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→ R1 → R4 → R9 → R15 → R19 = 49ms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8522A-0CDE-B9B7-96D0-3F1CB619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500EF3-3591-E07F-0350-0248BBF1A675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F06EEB-4D31-EC64-1EDE-00B7EE536324}"/>
              </a:ext>
            </a:extLst>
          </p:cNvPr>
          <p:cNvSpPr/>
          <p:nvPr/>
        </p:nvSpPr>
        <p:spPr>
          <a:xfrm>
            <a:off x="0" y="225171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755266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2042</Words>
  <Application>Microsoft Office PowerPoint</Application>
  <PresentationFormat>On-screen Show (16:9)</PresentationFormat>
  <Paragraphs>324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COT4400 - Router Network Optimization</dc:title>
  <dc:subject>PptxGenJS Presentation</dc:subject>
  <dc:creator>PptxGenJS</dc:creator>
  <cp:lastModifiedBy>Kaushik Selvakumar</cp:lastModifiedBy>
  <cp:revision>15</cp:revision>
  <dcterms:created xsi:type="dcterms:W3CDTF">2026-04-24T00:59:48Z</dcterms:created>
  <dcterms:modified xsi:type="dcterms:W3CDTF">2026-04-24T04:25:48Z</dcterms:modified>
</cp:coreProperties>
</file>