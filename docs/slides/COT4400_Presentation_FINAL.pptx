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09728" cy="50520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7724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Router Network Optimization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Problem Using Directed Weighted Graphs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4572000" cy="36576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889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COT-4400: Analysis of Algorithms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154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USF Bellini College of AI, Cybersecurity and Computing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703320"/>
            <a:ext cx="5486400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673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0690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Seyoung Kan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U36444259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Selvakumar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U75300364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069080" cy="3246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routes billions of data packets daily through networks of interconnected routers.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router must decide the </a:t>
            </a:r>
            <a:pPr algn="l"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next hop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deliver packets efficiently.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fundamentally a </a:t>
            </a:r>
            <a:pPr algn="l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Problem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directed weighted graph.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69080" cy="32461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0058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(Open Shortest Path First) routing protocol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 (Border Gateway Protocol)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 Networks (CDN)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&amp; real-time streaming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routing (AWS, Azure, GCP)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651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 (V)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Routers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R0 – R19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physical network nodes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91440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14400"/>
            <a:ext cx="2651760" cy="3657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9326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(E)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64408" y="1371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connections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routers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network links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91440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914400"/>
            <a:ext cx="2651760" cy="3657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9326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9048" y="1371600"/>
            <a:ext cx="24323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in milliseconds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slower link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5ms – 22ms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337560"/>
            <a:ext cx="8503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3756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832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Formal Definition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6758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(V, E)   where   |V| = 20 routers,   E = directed weighted edges,   w(u,v) = latency in 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429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 </a:t>
            </a:r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 </a:t>
            </a:r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Negative Weights  </a:t>
            </a:r>
            <a:pPr algn="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Realistic Dataset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20 Router Network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Edges  (Source → Destination : Latency)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R0→R1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35331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35331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R0→R2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135331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R0→R3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175564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17556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R1→R4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175564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1579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R1→R5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15798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21579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R2→R4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15798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R3→R7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56032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56032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R7→R11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256032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96265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R11→R16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296265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296265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R16→R19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296265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3649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R13→R19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36499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377440" y="33649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R14→R19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336499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914400"/>
            <a:ext cx="4069080" cy="1691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987552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Layers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1298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12984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92040" y="1554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1554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R1–R3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92040" y="1810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18105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R4–R7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206654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03720" y="206654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R8–R12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23225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03720" y="23225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R13–R19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697480"/>
            <a:ext cx="4069080" cy="18288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4754880" y="31546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PLACEHOLDER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5204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Adjacency List Output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54880" y="383133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terminal → SECTION 1 | run: make &amp;&amp; ./program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BFS &amp; DFS Traversal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069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0690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Breadth-First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794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a FIFO queue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Explores level by level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Finds shortest hop count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</a:t>
            </a:r>
            <a:pPr indent="0" marL="0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pPr indent="0" marL="0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
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Network discovery, reachability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69080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06908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326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— Depth-First Search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8862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Uses recursion (call stack)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Explores deep paths first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cycles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</a:t>
            </a:r>
            <a:pPr indent="0" marL="0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+ E)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pPr indent="0" marL="0">
              <a:buNone/>
            </a:pPr>
            <a:r>
              <a:rPr lang="en-US" sz="12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
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Cycle detection, topological ordering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1691640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20040" y="344043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PLACEHOLDER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77875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&amp; DFS Code Snippet + Terminal Output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4066337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src/bfs_dfs.cpp | Output: SECTION 2 (BFS) &amp; SECTION 3 (DFS)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Dijkstra's Shortest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Initialize all distances to ∞, source to 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Insert source into min-heap (priority queue)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 vertex with minimum distance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Relax all outgoing edges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Repeat until queue is empty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7919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    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 + E) log V)
</a:t>
            </a:r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    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
</a:t>
            </a:r>
            <a:pPr indent="0" marL="0">
              <a:buNone/>
            </a:pPr>
            <a:r>
              <a:rPr lang="en-US" sz="11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 log V) — sparse graph
</a:t>
            </a:r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Worst:     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O((V+E) log V) — dense
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Does NOT support negative edge weights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69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406908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326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Paths from R0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3977640" cy="24688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4416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13441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581912"/>
            <a:ext cx="3977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6002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160020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837944"/>
            <a:ext cx="3977640" cy="24688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85623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185623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093976"/>
            <a:ext cx="3977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1122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211226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350008"/>
            <a:ext cx="3977640" cy="24688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36829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236829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2606040"/>
            <a:ext cx="397764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62432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26243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ms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862072"/>
            <a:ext cx="3977640" cy="24688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8803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288036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118104"/>
            <a:ext cx="3977640" cy="2468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13639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R0 → R19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69480" y="31363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 ms ★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344728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R0→R3→R7→R11→R16→R19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320040" y="424281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PLACEHOLDER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440375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Code Snippet + Shortest Path Output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0040" y="4540545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src/dijkstra.cpp | Output: terminal SECTION 4 — highlight R19 | 49ms row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— Bellman-Ford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2286000"/>
        </p:xfrm>
        <a:graphic>
          <a:graphicData uri="http://schemas.openxmlformats.org/drawingml/2006/table">
            <a:tbl>
              <a:tblPr/>
              <a:tblGrid>
                <a:gridCol w="2926080"/>
                <a:gridCol w="2788920"/>
                <a:gridCol w="2788920"/>
              </a:tblGrid>
              <a:tr h="326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Not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Supported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8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O((V+E) 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×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(sparse)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(dense)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0CB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Non-neg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graphs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3310128"/>
            <a:ext cx="8503920" cy="777240"/>
          </a:xfrm>
          <a:prstGeom prst="rect">
            <a:avLst/>
          </a:prstGeom>
          <a:solidFill>
            <a:srgbClr val="041428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3310128"/>
            <a:ext cx="73152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383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6484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Bellman-Ford when your network may have negative-cost links or when you need to detect routing loops (negative cycles). Otherwise prefer Dijkstra for speed.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4160520"/>
            <a:ext cx="8503920" cy="6858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320040" y="433197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PLACEHOLDER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" y="446913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Code Snippet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0040" y="458571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src/bellman_ford.cpp | Show V-1 relaxation loop + negative cycle detection snippet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— Kruskal's MST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148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326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Kruskal's Algorithm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404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Sort all edges by weight (ascending)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Initialize Union-Find (DSU)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 each edge (u, v, w):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If find(u) ≠ find(v):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Add to MST, union(u, v)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Stop when MST has V−1 edges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33375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 </a:t>
            </a:r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O(E log E)   </a:t>
            </a:r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</a:t>
            </a:r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O(V)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69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4069080" cy="34747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326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Use Case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886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gives the </a:t>
            </a:r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backbone</a:t>
            </a:r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connect all routers with no redundant links.
</a:t>
            </a:r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applications:
</a:t>
            </a:r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Fiber optic cable layout
</a:t>
            </a:r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infrastructure design
</a:t>
            </a:r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 network minimization
</a:t>
            </a:r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Applied to undirected version of the router graph.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319272"/>
            <a:ext cx="4069080" cy="1161288"/>
          </a:xfrm>
          <a:prstGeom prst="rect">
            <a:avLst/>
          </a:prstGeom>
          <a:solidFill>
            <a:srgbClr val="0A2540"/>
          </a:solidFill>
          <a:ln w="19050">
            <a:solidFill>
              <a:srgbClr val="00ACC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54880" y="3609594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84185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Code Snippet + MST Output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4039271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src/kruskal.cpp | Output: SECTION 6 — total MST edges &amp; weight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95097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9509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9509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95097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07592"/>
            <a:ext cx="8503920" cy="475488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07592"/>
            <a:ext cx="54864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3990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64792" y="139903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76472" y="13990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48072" y="1399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82512" y="139903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810512"/>
            <a:ext cx="8503920" cy="475488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810512"/>
            <a:ext cx="54864" cy="47548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19019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64792" y="190195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76472" y="19019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48072" y="19019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82512" y="19019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+ 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313432"/>
            <a:ext cx="8503920" cy="475488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313432"/>
            <a:ext cx="54864" cy="47548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2404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64792" y="240487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 log V)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76472" y="2404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48072" y="24048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log V)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2512" y="240487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O((V+E)logV)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2816352"/>
            <a:ext cx="8503920" cy="475488"/>
          </a:xfrm>
          <a:prstGeom prst="rect">
            <a:avLst/>
          </a:prstGeom>
          <a:solidFill>
            <a:srgbClr val="0A1A2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816352"/>
            <a:ext cx="54864" cy="475488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9077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64792" y="290779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× 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76472" y="29077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48072" y="290779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82512" y="29077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 × 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319272"/>
            <a:ext cx="8503920" cy="475488"/>
          </a:xfrm>
          <a:prstGeom prst="rect">
            <a:avLst/>
          </a:prstGeom>
          <a:solidFill>
            <a:srgbClr val="0D21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319272"/>
            <a:ext cx="54864" cy="47548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3192" y="34107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764792" y="341071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76472" y="34107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O(V)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48072" y="341071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82512" y="34107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O(E log E)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" y="480060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docs/complexity_analysis.md  |  Report Section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85039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418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0" y="9418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Sparse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0" y="9418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Dense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9418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Sparse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0" y="94183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Dense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280160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80160"/>
            <a:ext cx="54864" cy="3931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53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1353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µs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353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µs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32120" y="1353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µs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32320" y="1353312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µs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1700784"/>
            <a:ext cx="8503920" cy="393192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700784"/>
            <a:ext cx="54864" cy="39319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7739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1720" y="177393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µs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31920" y="177393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 µs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77393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µs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32320" y="1773936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µs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121408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121408"/>
            <a:ext cx="54864" cy="39319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1945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21945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µs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31920" y="21945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µs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32120" y="21945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µs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19456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 µs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2542032"/>
            <a:ext cx="8503920" cy="393192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542032"/>
            <a:ext cx="54864" cy="39319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6151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26151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µs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26151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µs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26151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 µs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32320" y="2615184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2800 µs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2962656"/>
            <a:ext cx="850392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962656"/>
            <a:ext cx="54864" cy="3931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0358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3172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µs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93192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µs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3212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µs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175 µs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42900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3429000"/>
            <a:ext cx="64008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3749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BFS/DFS remain fast regardless of density — O(V+E) linear performance confirmed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Bellman-Ford 2800µs on large dense vs Dijkstra 210µs — 13× slower, confirming O(V·E) growth
</a:t>
            </a:r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Dijkstra is the clear winner for shortest path in non-negative weighted networks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src/experimental.cpp | results/experimental_results.md | terminal SECTION 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C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069080" cy="32918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298448"/>
            <a:ext cx="3858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for shortest path — fastest with non-negative weights. Confirmed by experimental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069080" cy="32918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418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Bellman-Ford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73168" y="1298448"/>
            <a:ext cx="3858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edge weights or negative cycle detection required in general routing scenarios.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60320"/>
            <a:ext cx="4069080" cy="32918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87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 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" y="2944368"/>
            <a:ext cx="3858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BFS/DFS for network discovery, reachability analysis, and cycle detection.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406908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560320"/>
            <a:ext cx="4069080" cy="32918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58775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 Use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73168" y="2944368"/>
            <a:ext cx="385876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for minimum infrastructure cost and network backbone design.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261104"/>
            <a:ext cx="8503920" cy="566928"/>
          </a:xfrm>
          <a:prstGeom prst="rect">
            <a:avLst/>
          </a:prstGeom>
          <a:solidFill>
            <a:srgbClr val="1A0A0A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261104"/>
            <a:ext cx="64008" cy="5669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15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431596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 assumes undirected graph interpretation. The directed router graph is converted to undirected for MST computation.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COT-4400 Analysis of Algorithms  •  Seyoung Kan  •  Kaushik Selvakumar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COT4400 - Router Network Optimization</dc:title>
  <dc:subject>PptxGenJS Presentation</dc:subject>
  <dc:creator>PptxGenJS</dc:creator>
  <cp:lastModifiedBy>PptxGenJS</cp:lastModifiedBy>
  <cp:revision>1</cp:revision>
  <dcterms:created xsi:type="dcterms:W3CDTF">2026-04-24T00:59:48Z</dcterms:created>
  <dcterms:modified xsi:type="dcterms:W3CDTF">2026-04-24T00:59:48Z</dcterms:modified>
</cp:coreProperties>
</file>